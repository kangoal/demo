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12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103120" y="868680"/>
            <a:ext cx="5120640" cy="5120640"/>
          </a:xfrm>
          <a:prstGeom prst="ellipse">
            <a:avLst/>
          </a:prstGeom>
          <a:noFill/>
          <a:ln w="1397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1759" y="1417319"/>
            <a:ext cx="4023360" cy="4023360"/>
          </a:xfrm>
          <a:prstGeom prst="ellipse">
            <a:avLst/>
          </a:prstGeom>
          <a:noFill/>
          <a:ln w="13970">
            <a:solidFill>
              <a:srgbClr val="4FA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399" y="1965960"/>
            <a:ext cx="2926080" cy="2926080"/>
          </a:xfrm>
          <a:prstGeom prst="ellipse">
            <a:avLst/>
          </a:prstGeom>
          <a:noFill/>
          <a:ln w="13970">
            <a:solidFill>
              <a:srgbClr val="E85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749039" y="2514600"/>
            <a:ext cx="1828800" cy="1828800"/>
          </a:xfrm>
          <a:prstGeom prst="ellipse">
            <a:avLst/>
          </a:prstGeom>
          <a:noFill/>
          <a:ln w="13970">
            <a:solidFill>
              <a:srgbClr val="D99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90288" y="0"/>
            <a:ext cx="50292" cy="68580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2121408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4FA8A6"/>
                </a:solidFill>
                <a:latin typeface="微软雅黑"/>
              </a:rPr>
              <a:t>NEUROREHABILITATION  ·  临床进阶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523744"/>
            <a:ext cx="61264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4100" b="1" i="0">
                <a:solidFill>
                  <a:srgbClr val="FFFFFF"/>
                </a:solidFill>
                <a:latin typeface="微软雅黑"/>
              </a:rPr>
              <a:t>脑卒中的康复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4041648"/>
            <a:ext cx="822960" cy="45720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4297680"/>
            <a:ext cx="6126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 i="0">
                <a:solidFill>
                  <a:srgbClr val="A9C2CE"/>
                </a:solidFill>
                <a:latin typeface="微软雅黑"/>
              </a:rPr>
              <a:t>从血管解剖到功能重建 —— 循证评定与临床操作全流程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5138928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50" b="0" i="0">
                <a:solidFill>
                  <a:srgbClr val="4FA8A6"/>
                </a:solidFill>
                <a:latin typeface="微软雅黑"/>
              </a:rPr>
              <a:t>神经康复专题汇报    | 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E7C7B"/>
                </a:solidFill>
                <a:latin typeface="微软雅黑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0A1E2E"/>
                </a:solidFill>
                <a:latin typeface="微软雅黑"/>
              </a:rPr>
              <a:t>汇报框架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457200"/>
            <a:ext cx="128016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15039" y="457200"/>
            <a:ext cx="128016" cy="128016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5410047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50292" cy="93268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731930"/>
            <a:ext cx="5025999" cy="238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50" b="1" i="0">
                <a:solidFill>
                  <a:srgbClr val="0A1E2E"/>
                </a:solidFill>
                <a:latin typeface="微软雅黑"/>
              </a:rPr>
              <a:t>Ⅰ  疾病基础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970055"/>
            <a:ext cx="5025999" cy="398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050" b="0" i="0">
                <a:solidFill>
                  <a:srgbClr val="5A6B78"/>
                </a:solidFill>
                <a:latin typeface="微软雅黑"/>
              </a:rPr>
              <a:t>概述 · 危险因素 · 血管解剖 · 卒中综合征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4719" y="1481328"/>
            <a:ext cx="5410047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4719" y="1481328"/>
            <a:ext cx="50292" cy="93268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4175" y="1731930"/>
            <a:ext cx="5025999" cy="238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50" b="1" i="0">
                <a:solidFill>
                  <a:srgbClr val="0A1E2E"/>
                </a:solidFill>
                <a:latin typeface="微软雅黑"/>
              </a:rPr>
              <a:t>Ⅱ  影像诊断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4175" y="1970055"/>
            <a:ext cx="5025999" cy="398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050" b="0" i="0">
                <a:solidFill>
                  <a:srgbClr val="5A6B78"/>
                </a:solidFill>
                <a:latin typeface="微软雅黑"/>
              </a:rPr>
              <a:t>CT/MRI 判读 · 灌注筛选 · 血肿扩大预测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615184"/>
            <a:ext cx="5410047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615184"/>
            <a:ext cx="50292" cy="93268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865786"/>
            <a:ext cx="5025999" cy="238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50" b="1" i="0">
                <a:solidFill>
                  <a:srgbClr val="0A1E2E"/>
                </a:solidFill>
                <a:latin typeface="微软雅黑"/>
              </a:rPr>
              <a:t>Ⅲ  运动控制机制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103911"/>
            <a:ext cx="5025999" cy="398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050" b="0" i="0">
                <a:solidFill>
                  <a:srgbClr val="5A6B78"/>
                </a:solidFill>
                <a:latin typeface="微软雅黑"/>
              </a:rPr>
              <a:t>锥体系 / 锥体外系 / 小脑 · 上下运动神经元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4719" y="2615184"/>
            <a:ext cx="5410047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4719" y="2615184"/>
            <a:ext cx="50292" cy="93268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4175" y="2865786"/>
            <a:ext cx="5025999" cy="238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50" b="1" i="0">
                <a:solidFill>
                  <a:srgbClr val="0A1E2E"/>
                </a:solidFill>
                <a:latin typeface="微软雅黑"/>
              </a:rPr>
              <a:t>Ⅳ  评定体系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4175" y="3103911"/>
            <a:ext cx="5025999" cy="398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050" b="0" i="0">
                <a:solidFill>
                  <a:srgbClr val="5A6B78"/>
                </a:solidFill>
                <a:latin typeface="微软雅黑"/>
              </a:rPr>
              <a:t>Brunnstrom · 痉挛 · 感觉 · 平衡 · 步态 · 言语 · 吞咽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749039"/>
            <a:ext cx="5410047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3749039"/>
            <a:ext cx="50292" cy="93268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3999642"/>
            <a:ext cx="5025999" cy="238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50" b="1" i="0">
                <a:solidFill>
                  <a:srgbClr val="0A1E2E"/>
                </a:solidFill>
                <a:latin typeface="微软雅黑"/>
              </a:rPr>
              <a:t>Ⅴ  治疗技术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4237767"/>
            <a:ext cx="5025999" cy="398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050" b="0" i="0">
                <a:solidFill>
                  <a:srgbClr val="5A6B78"/>
                </a:solidFill>
                <a:latin typeface="微软雅黑"/>
              </a:rPr>
              <a:t>神经促进技术 · 痉挛管理 · 呼吸 · 功能重建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4719" y="3749039"/>
            <a:ext cx="5410047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4719" y="3749039"/>
            <a:ext cx="50292" cy="93268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34175" y="3999642"/>
            <a:ext cx="5025999" cy="238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50" b="1" i="0">
                <a:solidFill>
                  <a:srgbClr val="0A1E2E"/>
                </a:solidFill>
                <a:latin typeface="微软雅黑"/>
              </a:rPr>
              <a:t>Ⅵ  临床实战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4175" y="4237767"/>
            <a:ext cx="5025999" cy="398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050" b="0" i="0">
                <a:solidFill>
                  <a:srgbClr val="5A6B78"/>
                </a:solidFill>
                <a:latin typeface="微软雅黑"/>
              </a:rPr>
              <a:t>常见问题处理 · 人文关怀 · 健康宣教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974336"/>
            <a:ext cx="11057839" cy="841248"/>
          </a:xfrm>
          <a:prstGeom prst="roundRect">
            <a:avLst>
              <a:gd name="adj" fmla="val 5500"/>
            </a:avLst>
          </a:prstGeom>
          <a:solidFill>
            <a:srgbClr val="FDE6E3"/>
          </a:solidFill>
          <a:ln w="9525">
            <a:solidFill>
              <a:srgbClr val="E85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4974336"/>
            <a:ext cx="54864" cy="841248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5093207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9B2C22"/>
                </a:solidFill>
                <a:latin typeface="微软雅黑"/>
              </a:rPr>
              <a:t>本次汇报的落点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5385816"/>
            <a:ext cx="1063721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50" b="0" i="0">
                <a:solidFill>
                  <a:srgbClr val="2C4455"/>
                </a:solidFill>
                <a:latin typeface="微软雅黑"/>
              </a:rPr>
              <a:t>不停留于概念罗列 —— 聚焦「怎么查、怎么评、怎么做」的临床操作细节，结合 2022—2025 年循证进展与指南更新，讨论真实场景中的疑难处理。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38251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00" b="0" i="0">
                <a:solidFill>
                  <a:srgbClr val="8A99A4"/>
                </a:solidFill>
                <a:latin typeface="微软雅黑"/>
              </a:rPr>
              <a:t>脑卒中康复 · 临床进阶专题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0312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600" b="1" i="0">
                <a:solidFill>
                  <a:srgbClr val="4FA8A6"/>
                </a:solidFill>
                <a:latin typeface="微软雅黑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3145536"/>
            <a:ext cx="731520" cy="45720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438144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3100" b="1" i="0">
                <a:solidFill>
                  <a:srgbClr val="FFFFFF"/>
                </a:solidFill>
                <a:latin typeface="微软雅黑"/>
              </a:rPr>
              <a:t>疾病基础与
血管解剖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98848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400"/>
              </a:spcAft>
            </a:pPr>
            <a:r>
              <a:rPr sz="1200" b="0" i="0">
                <a:solidFill>
                  <a:srgbClr val="9FB8C4"/>
                </a:solidFill>
                <a:latin typeface="微软雅黑"/>
              </a:rPr>
              <a:t>从病因到责任血管——康复决策的起点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231136"/>
            <a:ext cx="109728" cy="109728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3969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 i="0">
                <a:solidFill>
                  <a:srgbClr val="D6E4EB"/>
                </a:solidFill>
                <a:latin typeface="微软雅黑"/>
              </a:rPr>
              <a:t>卒中定义、分型与流行病学要点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834640"/>
            <a:ext cx="109728" cy="109728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7432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 i="0">
                <a:solidFill>
                  <a:srgbClr val="D6E4EB"/>
                </a:solidFill>
                <a:latin typeface="微软雅黑"/>
              </a:rPr>
              <a:t>可控与不可控危险因素分层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438144"/>
            <a:ext cx="109728" cy="109728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346704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 i="0">
                <a:solidFill>
                  <a:srgbClr val="D6E4EB"/>
                </a:solidFill>
                <a:latin typeface="微软雅黑"/>
              </a:rPr>
              <a:t>脑动脉系统的来源、分支与供血区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4041648"/>
            <a:ext cx="109728" cy="109728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95020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 i="0">
                <a:solidFill>
                  <a:srgbClr val="D6E4EB"/>
                </a:solidFill>
                <a:latin typeface="微软雅黑"/>
              </a:rPr>
              <a:t>侧支循环与分水岭梗死机制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4645152"/>
            <a:ext cx="109728" cy="109728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455371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 i="0">
                <a:solidFill>
                  <a:srgbClr val="D6E4EB"/>
                </a:solidFill>
                <a:latin typeface="微软雅黑"/>
              </a:rPr>
              <a:t>经典血管综合征的定位诊断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E7C7B"/>
                </a:solidFill>
                <a:latin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0A1E2E"/>
                </a:solidFill>
                <a:latin typeface="微软雅黑"/>
              </a:rPr>
              <a:t>脑卒中：定义与分型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457200"/>
            <a:ext cx="128016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15039" y="457200"/>
            <a:ext cx="128016" cy="128016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300" b="0" i="0">
                <a:solidFill>
                  <a:srgbClr val="2C4455"/>
                </a:solidFill>
                <a:latin typeface="微软雅黑"/>
              </a:rPr>
              <a:t>急性起病、由脑血管病变导致的局灶性（或全面性）神经功能缺损，症状持续 ≥24 小时或导致死亡，排除非血管性病因。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464308"/>
            <a:ext cx="118872" cy="11887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414016"/>
            <a:ext cx="5248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分型构成（中国卒中登记数据）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779776"/>
            <a:ext cx="5486400" cy="384048"/>
          </a:xfrm>
          <a:prstGeom prst="rect">
            <a:avLst/>
          </a:prstGeom>
          <a:solidFill>
            <a:srgbClr val="12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866644"/>
            <a:ext cx="1152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类型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48256" y="2866644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占比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5536" y="2866644"/>
            <a:ext cx="2798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主要机制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163824"/>
            <a:ext cx="54864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3250692"/>
            <a:ext cx="11521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缺血性卒中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48256" y="3250692"/>
            <a:ext cx="877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约 70—80%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5536" y="3250692"/>
            <a:ext cx="279806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大动脉粥样硬化 / 心源性栓塞 / 小血管闭塞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529584"/>
            <a:ext cx="5486400" cy="365760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616451"/>
            <a:ext cx="11521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脑出血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48256" y="3616451"/>
            <a:ext cx="877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约 18—25%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45536" y="3616451"/>
            <a:ext cx="279806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高血压性 · 淀粉样血管病 · 血管畸形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95344"/>
            <a:ext cx="548640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982211"/>
            <a:ext cx="11521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蛛网膜下腔出血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48256" y="3982211"/>
            <a:ext cx="877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约 3—5%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45536" y="3982211"/>
            <a:ext cx="279806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动脉瘤破裂为主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2779776"/>
            <a:ext cx="5486400" cy="1481328"/>
          </a:xfrm>
          <a:prstGeom prst="rect">
            <a:avLst/>
          </a:prstGeom>
          <a:noFill/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6928" y="4498848"/>
            <a:ext cx="5486400" cy="1005840"/>
          </a:xfrm>
          <a:prstGeom prst="roundRect">
            <a:avLst>
              <a:gd name="adj" fmla="val 5500"/>
            </a:avLst>
          </a:prstGeom>
          <a:solidFill>
            <a:srgbClr val="D6ECEB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4498848"/>
            <a:ext cx="54864" cy="100584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4617720"/>
            <a:ext cx="50657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9B2C22"/>
                </a:solidFill>
                <a:latin typeface="微软雅黑"/>
              </a:rPr>
              <a:t>TIA 的现代定义已改变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4910328"/>
            <a:ext cx="506577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50" b="0" i="0">
                <a:solidFill>
                  <a:srgbClr val="2C4455"/>
                </a:solidFill>
                <a:latin typeface="微软雅黑"/>
              </a:rPr>
              <a:t>不再以「症状 &lt;24h」界定，而采用组织学定义：短暂神经缺损且影像无急性梗死灶。约 15% 的卒中前有 TIA，是二级预防的黄金窗口。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1481328"/>
            <a:ext cx="5175504" cy="4023360"/>
          </a:xfrm>
          <a:prstGeom prst="roundRect">
            <a:avLst>
              <a:gd name="adj" fmla="val 4000"/>
            </a:avLst>
          </a:prstGeom>
          <a:solidFill>
            <a:srgbClr val="ECF2F4"/>
          </a:solidFill>
          <a:ln w="12700">
            <a:solidFill>
              <a:srgbClr val="4FA8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92824" y="1627632"/>
            <a:ext cx="676656" cy="237744"/>
          </a:xfrm>
          <a:prstGeom prst="roundRect">
            <a:avLst>
              <a:gd name="adj" fmla="val 3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92824" y="1650492"/>
            <a:ext cx="6766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微软雅黑"/>
              </a:rPr>
              <a:t>流程图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3255264"/>
            <a:ext cx="462686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2C4455"/>
                </a:solidFill>
                <a:latin typeface="微软雅黑"/>
              </a:rPr>
              <a:t>脑卒中分型树状图
（缺血性 TOAST 分型 + 出血性病因分类）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120640"/>
            <a:ext cx="46268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850" b="0" i="1">
                <a:solidFill>
                  <a:srgbClr val="4FA8A6"/>
                </a:solidFill>
                <a:latin typeface="微软雅黑"/>
              </a:rPr>
              <a:t>［ 此处置入图片 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38251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  <a:spcAft>
                <a:spcPts val="400"/>
              </a:spcAft>
            </a:pPr>
            <a:r>
              <a:rPr sz="850" b="0" i="1">
                <a:solidFill>
                  <a:srgbClr val="96A4AE"/>
                </a:solidFill>
                <a:latin typeface="微软雅黑"/>
              </a:rPr>
              <a:t>数据来源：中国卒中流行病学报告 / AHA-ASA 卒中定义更新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E7C7B"/>
                </a:solidFill>
                <a:latin typeface="微软雅黑"/>
              </a:rPr>
              <a:t>RISK FACTORS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0A1E2E"/>
                </a:solidFill>
                <a:latin typeface="微软雅黑"/>
              </a:rPr>
              <a:t>危险因素：分层与干预优先级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457200"/>
            <a:ext cx="128016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15039" y="457200"/>
            <a:ext cx="128016" cy="128016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2646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5A6B78"/>
                </a:solidFill>
                <a:latin typeface="微软雅黑"/>
              </a:rPr>
              <a:t>不可干预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2395728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37360"/>
            <a:ext cx="50292" cy="7315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906111"/>
            <a:ext cx="2011679" cy="219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A1E2E"/>
                </a:solidFill>
                <a:latin typeface="微软雅黑"/>
              </a:rPr>
              <a:t>年龄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25186"/>
            <a:ext cx="2011679" cy="297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55 岁后每 10 年风险翻倍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737360"/>
            <a:ext cx="2395728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1737360"/>
            <a:ext cx="50292" cy="7315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9856" y="1906111"/>
            <a:ext cx="2011679" cy="219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A1E2E"/>
                </a:solidFill>
                <a:latin typeface="微软雅黑"/>
              </a:rPr>
              <a:t>性别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9856" y="2125186"/>
            <a:ext cx="2011679" cy="297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男性发病早，女性预后差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15184"/>
            <a:ext cx="2395728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615184"/>
            <a:ext cx="50292" cy="7315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2783935"/>
            <a:ext cx="2011679" cy="219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A1E2E"/>
                </a:solidFill>
                <a:latin typeface="微软雅黑"/>
              </a:rPr>
              <a:t>遗传/种族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3003010"/>
            <a:ext cx="2011679" cy="297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家族史、CADASIL 等单基因病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2615184"/>
            <a:ext cx="2395728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0" y="2615184"/>
            <a:ext cx="50292" cy="7315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9856" y="2783935"/>
            <a:ext cx="2011679" cy="219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A1E2E"/>
                </a:solidFill>
                <a:latin typeface="微软雅黑"/>
              </a:rPr>
              <a:t>既往卒中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9856" y="3003010"/>
            <a:ext cx="2011679" cy="297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复发风险显著升高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54787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E85A4F"/>
                </a:solidFill>
                <a:latin typeface="微软雅黑"/>
              </a:rPr>
              <a:t>可干预（按人群归因危险度排序）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877056"/>
            <a:ext cx="2395728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3877056"/>
            <a:ext cx="50292" cy="731520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4045807"/>
            <a:ext cx="2011679" cy="219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A1E2E"/>
                </a:solidFill>
                <a:latin typeface="微软雅黑"/>
              </a:rPr>
              <a:t>高血压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4264882"/>
            <a:ext cx="2011679" cy="297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PAR 约 48%，最强可控因素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0" y="3877056"/>
            <a:ext cx="2395728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3877056"/>
            <a:ext cx="50292" cy="731520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19856" y="4045807"/>
            <a:ext cx="2011679" cy="219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A1E2E"/>
                </a:solidFill>
                <a:latin typeface="微软雅黑"/>
              </a:rPr>
              <a:t>血脂异常 / 糖尿病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19856" y="4264882"/>
            <a:ext cx="2011679" cy="297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代谢综合征叠加效应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754880"/>
            <a:ext cx="2395728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4754880"/>
            <a:ext cx="50292" cy="731520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" y="4923631"/>
            <a:ext cx="2011679" cy="219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A1E2E"/>
                </a:solidFill>
                <a:latin typeface="微软雅黑"/>
              </a:rPr>
              <a:t>心房颤动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5142706"/>
            <a:ext cx="2011679" cy="297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心源性栓塞，需抗凝而非抗板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00400" y="4754880"/>
            <a:ext cx="2395728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0" y="4754880"/>
            <a:ext cx="50292" cy="731520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923631"/>
            <a:ext cx="2011679" cy="219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A1E2E"/>
                </a:solidFill>
                <a:latin typeface="微软雅黑"/>
              </a:rPr>
              <a:t>吸烟 / 缺乏运动 / 肥胖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19856" y="5142706"/>
            <a:ext cx="2011679" cy="2979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生活方式集群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61888" y="1481328"/>
            <a:ext cx="5660136" cy="2788920"/>
          </a:xfrm>
          <a:prstGeom prst="roundRect">
            <a:avLst>
              <a:gd name="adj" fmla="val 4000"/>
            </a:avLst>
          </a:prstGeom>
          <a:solidFill>
            <a:srgbClr val="ECF2F4"/>
          </a:solidFill>
          <a:ln w="12700">
            <a:solidFill>
              <a:srgbClr val="4FA8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108192" y="1627632"/>
            <a:ext cx="676656" cy="237744"/>
          </a:xfrm>
          <a:prstGeom prst="roundRect">
            <a:avLst>
              <a:gd name="adj" fmla="val 3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08192" y="1650492"/>
            <a:ext cx="6766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微软雅黑"/>
              </a:rPr>
              <a:t>数据图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6207" y="2638044"/>
            <a:ext cx="511149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2C4455"/>
                </a:solidFill>
                <a:latin typeface="微软雅黑"/>
              </a:rPr>
              <a:t>INTERSTROKE 研究：十大危险因素归因图
（可解释约 90% 卒中风险）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6207" y="3886200"/>
            <a:ext cx="51114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850" b="0" i="1">
                <a:solidFill>
                  <a:srgbClr val="4FA8A6"/>
                </a:solidFill>
                <a:latin typeface="微软雅黑"/>
              </a:rPr>
              <a:t>［ 此处置入图片 ］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61888" y="4443984"/>
            <a:ext cx="5660136" cy="1481328"/>
          </a:xfrm>
          <a:prstGeom prst="roundRect">
            <a:avLst>
              <a:gd name="adj" fmla="val 5500"/>
            </a:avLst>
          </a:prstGeom>
          <a:solidFill>
            <a:srgbClr val="D6ECEB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961888" y="4443984"/>
            <a:ext cx="54864" cy="148132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99631" y="4562856"/>
            <a:ext cx="52395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9B2C22"/>
                </a:solidFill>
                <a:latin typeface="微软雅黑"/>
              </a:rPr>
              <a:t>康复视角的再解读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99631" y="4855464"/>
            <a:ext cx="5239512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50" b="0" i="0">
                <a:solidFill>
                  <a:srgbClr val="2C4455"/>
                </a:solidFill>
                <a:latin typeface="微软雅黑"/>
              </a:rPr>
              <a:t>康复期不只是练功能——二级预防管理同样是康复科责任：
血压达标、他汀依从性、房颤抗凝、戒烟干预，直接决定患者是否会在 1 年内因复发回到病房。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638251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  <a:spcAft>
                <a:spcPts val="400"/>
              </a:spcAft>
            </a:pPr>
            <a:r>
              <a:rPr sz="850" b="0" i="1">
                <a:solidFill>
                  <a:srgbClr val="96A4AE"/>
                </a:solidFill>
                <a:latin typeface="微软雅黑"/>
              </a:rPr>
              <a:t>参考：INTERSTROKE (Lancet) / 中国脑血管病一级预防指南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E7C7B"/>
                </a:solidFill>
                <a:latin typeface="微软雅黑"/>
              </a:rPr>
              <a:t>PATHOPHYSIOLOGY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0A1E2E"/>
                </a:solidFill>
                <a:latin typeface="微软雅黑"/>
              </a:rPr>
              <a:t>缺血级联反应：时间就是大脑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457200"/>
            <a:ext cx="128016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15039" y="457200"/>
            <a:ext cx="128016" cy="128016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44752"/>
            <a:ext cx="2011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E85A4F"/>
                </a:solidFill>
                <a:latin typeface="微软雅黑"/>
              </a:rPr>
              <a:t>190万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9339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050" b="0" i="0">
                <a:solidFill>
                  <a:srgbClr val="5A6B78"/>
                </a:solidFill>
                <a:latin typeface="微软雅黑"/>
              </a:rPr>
              <a:t>每分钟死亡神经元数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15768" y="1444752"/>
            <a:ext cx="2011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E85A4F"/>
                </a:solidFill>
                <a:latin typeface="微软雅黑"/>
              </a:rPr>
              <a:t>14 十亿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5768" y="199339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050" b="0" i="0">
                <a:solidFill>
                  <a:srgbClr val="5A6B78"/>
                </a:solidFill>
                <a:latin typeface="微软雅黑"/>
              </a:rPr>
              <a:t>每小时丢失突触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8" y="1444752"/>
            <a:ext cx="2011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E85A4F"/>
                </a:solidFill>
                <a:latin typeface="微软雅黑"/>
              </a:rPr>
              <a:t>3.6 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8" y="199339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050" b="0" i="0">
                <a:solidFill>
                  <a:srgbClr val="5A6B78"/>
                </a:solidFill>
                <a:latin typeface="微软雅黑"/>
              </a:rPr>
              <a:t>每小时脑老化当量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1444752"/>
            <a:ext cx="4901184" cy="2011680"/>
          </a:xfrm>
          <a:prstGeom prst="roundRect">
            <a:avLst>
              <a:gd name="adj" fmla="val 4000"/>
            </a:avLst>
          </a:prstGeom>
          <a:solidFill>
            <a:srgbClr val="ECF2F4"/>
          </a:solidFill>
          <a:ln w="12700">
            <a:solidFill>
              <a:srgbClr val="4FA8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67144" y="1591056"/>
            <a:ext cx="676656" cy="237744"/>
          </a:xfrm>
          <a:prstGeom prst="roundRect">
            <a:avLst>
              <a:gd name="adj" fmla="val 3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67144" y="1613916"/>
            <a:ext cx="6766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微软雅黑"/>
              </a:rPr>
              <a:t>示意图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59" y="2212848"/>
            <a:ext cx="435254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2C4455"/>
                </a:solidFill>
                <a:latin typeface="微软雅黑"/>
              </a:rPr>
              <a:t>缺血半暗带示意
核心梗死区 / 半暗带 / 良性低灌注区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59" y="3072384"/>
            <a:ext cx="43525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850" b="0" i="1">
                <a:solidFill>
                  <a:srgbClr val="4FA8A6"/>
                </a:solidFill>
                <a:latin typeface="微软雅黑"/>
              </a:rPr>
              <a:t>［ 此处置入图片 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738628"/>
            <a:ext cx="118872" cy="11887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268833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级联反应链条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054096"/>
            <a:ext cx="1847088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6656" y="3310128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3310128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3054096"/>
            <a:ext cx="1316736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 i="0">
                <a:solidFill>
                  <a:srgbClr val="2C4455"/>
                </a:solidFill>
                <a:latin typeface="微软雅黑"/>
              </a:rPr>
              <a:t>血流中断
ATP 耗竭</a:t>
            </a:r>
          </a:p>
        </p:txBody>
      </p:sp>
      <p:sp>
        <p:nvSpPr>
          <p:cNvPr id="24" name="Isosceles Triangle 23"/>
          <p:cNvSpPr/>
          <p:nvPr/>
        </p:nvSpPr>
        <p:spPr>
          <a:xfrm rot="5400000">
            <a:off x="2436876" y="3351276"/>
            <a:ext cx="155448" cy="155448"/>
          </a:xfrm>
          <a:prstGeom prst="triangl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615184" y="3054096"/>
            <a:ext cx="1847088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724912" y="3310128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24912" y="3310128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35808" y="3054096"/>
            <a:ext cx="1316736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 i="0">
                <a:solidFill>
                  <a:srgbClr val="2C4455"/>
                </a:solidFill>
                <a:latin typeface="微软雅黑"/>
              </a:rPr>
              <a:t>离子泵失效
去极化</a:t>
            </a:r>
          </a:p>
        </p:txBody>
      </p:sp>
      <p:sp>
        <p:nvSpPr>
          <p:cNvPr id="29" name="Isosceles Triangle 28"/>
          <p:cNvSpPr/>
          <p:nvPr/>
        </p:nvSpPr>
        <p:spPr>
          <a:xfrm rot="5400000">
            <a:off x="4485132" y="3351276"/>
            <a:ext cx="155448" cy="155448"/>
          </a:xfrm>
          <a:prstGeom prst="triangl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663440" y="3054096"/>
            <a:ext cx="1847088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73168" y="3310128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73168" y="3310128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4064" y="3054096"/>
            <a:ext cx="1316736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 i="0">
                <a:solidFill>
                  <a:srgbClr val="2C4455"/>
                </a:solidFill>
                <a:latin typeface="微软雅黑"/>
              </a:rPr>
              <a:t>谷氨酸释放
钙超载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3986784"/>
            <a:ext cx="1847088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5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76656" y="4242816"/>
            <a:ext cx="237744" cy="237744"/>
          </a:xfrm>
          <a:prstGeom prst="ellipse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" y="4242816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" y="3986784"/>
            <a:ext cx="1316736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 i="0">
                <a:solidFill>
                  <a:srgbClr val="2C4455"/>
                </a:solidFill>
                <a:latin typeface="微软雅黑"/>
              </a:rPr>
              <a:t>自由基损伤
线粒体崩解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2436876" y="4283964"/>
            <a:ext cx="155448" cy="155448"/>
          </a:xfrm>
          <a:prstGeom prst="triangle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615184" y="3986784"/>
            <a:ext cx="1847088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5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724912" y="4242816"/>
            <a:ext cx="237744" cy="237744"/>
          </a:xfrm>
          <a:prstGeom prst="ellipse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24912" y="4242816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35808" y="3986784"/>
            <a:ext cx="1316736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 i="0">
                <a:solidFill>
                  <a:srgbClr val="2C4455"/>
                </a:solidFill>
                <a:latin typeface="微软雅黑"/>
              </a:rPr>
              <a:t>炎症级联
小胶质激活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485132" y="4283964"/>
            <a:ext cx="155448" cy="155448"/>
          </a:xfrm>
          <a:prstGeom prst="triangle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663440" y="3986784"/>
            <a:ext cx="1847088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5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773168" y="4242816"/>
            <a:ext cx="237744" cy="237744"/>
          </a:xfrm>
          <a:prstGeom prst="ellipse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73168" y="4242816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84064" y="3986784"/>
            <a:ext cx="1316736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 i="0">
                <a:solidFill>
                  <a:srgbClr val="2C4455"/>
                </a:solidFill>
                <a:latin typeface="微软雅黑"/>
              </a:rPr>
              <a:t>细胞凋亡
梗死确立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720840" y="3657600"/>
            <a:ext cx="4901184" cy="1993392"/>
          </a:xfrm>
          <a:prstGeom prst="roundRect">
            <a:avLst>
              <a:gd name="adj" fmla="val 5500"/>
            </a:avLst>
          </a:prstGeom>
          <a:solidFill>
            <a:srgbClr val="D6ECEB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20840" y="3657600"/>
            <a:ext cx="54864" cy="199339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58583" y="3776472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9B2C22"/>
                </a:solidFill>
                <a:latin typeface="微软雅黑"/>
              </a:rPr>
              <a:t>对康复的启示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58583" y="4069080"/>
            <a:ext cx="4480560" cy="148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00" b="0" i="0">
                <a:solidFill>
                  <a:srgbClr val="2C4455"/>
                </a:solidFill>
                <a:latin typeface="微软雅黑"/>
              </a:rPr>
              <a:t>半暗带的命运在数小时内决定，但神经可塑性的窗口持续数月。
急性期：保灌注、防二次损伤（避免低血压、高血糖、发热）
亚急性期：突触重塑高峰，是强化训练的黄金期
慢性期：可塑性未关闭，但需更高训练剂量驱动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638251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  <a:spcAft>
                <a:spcPts val="400"/>
              </a:spcAft>
            </a:pPr>
            <a:r>
              <a:rPr sz="850" b="0" i="1">
                <a:solidFill>
                  <a:srgbClr val="96A4AE"/>
                </a:solidFill>
                <a:latin typeface="微软雅黑"/>
              </a:rPr>
              <a:t>参考：Saver JL. Time is Brain — Quantified. Stroke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E7C7B"/>
                </a:solidFill>
                <a:latin typeface="微软雅黑"/>
              </a:rPr>
              <a:t>VASCULAR 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0A1E2E"/>
                </a:solidFill>
                <a:latin typeface="微软雅黑"/>
              </a:rPr>
              <a:t>脑的血液供应：两套系统、一个环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457200"/>
            <a:ext cx="128016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15039" y="457200"/>
            <a:ext cx="128016" cy="128016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95044"/>
            <a:ext cx="118872" cy="11887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444752"/>
            <a:ext cx="5340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颈内动脉系（前循环 · 约占脑血流 80%）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773936"/>
            <a:ext cx="5486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 i="0">
                <a:solidFill>
                  <a:srgbClr val="5A6B78"/>
                </a:solidFill>
                <a:latin typeface="微软雅黑"/>
              </a:rPr>
              <a:t>主动脉弓 → 颈总动脉 → 颈内动脉，经颈动脉管入颅，于海绵窦段形成虹吸部，供应大脑半球前 3/5。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14016"/>
            <a:ext cx="2670048" cy="69494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414016"/>
            <a:ext cx="50292" cy="69494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564479"/>
            <a:ext cx="2285999" cy="219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A1E2E"/>
                </a:solidFill>
                <a:latin typeface="微软雅黑"/>
              </a:rPr>
              <a:t>眼动脉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783554"/>
            <a:ext cx="2285999" cy="2796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一过性黑矇的解剖基础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2414016"/>
            <a:ext cx="2670048" cy="69494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2414016"/>
            <a:ext cx="50292" cy="69494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4176" y="2564479"/>
            <a:ext cx="2285999" cy="219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A1E2E"/>
                </a:solidFill>
                <a:latin typeface="微软雅黑"/>
              </a:rPr>
              <a:t>后交通动脉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2783554"/>
            <a:ext cx="2285999" cy="2796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连接前后循环，动脉瘤好发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246120"/>
            <a:ext cx="2670048" cy="69494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3246120"/>
            <a:ext cx="50292" cy="69494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3396583"/>
            <a:ext cx="2285999" cy="219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A1E2E"/>
                </a:solidFill>
                <a:latin typeface="微软雅黑"/>
              </a:rPr>
              <a:t>脉络膜前动脉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3615658"/>
            <a:ext cx="2285999" cy="2796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内囊后肢、视束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3246120"/>
            <a:ext cx="2670048" cy="69494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4720" y="3246120"/>
            <a:ext cx="50292" cy="69494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94176" y="3396583"/>
            <a:ext cx="2285999" cy="219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A1E2E"/>
                </a:solidFill>
                <a:latin typeface="微软雅黑"/>
              </a:rPr>
              <a:t>大脑前 / 中动脉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3615658"/>
            <a:ext cx="2285999" cy="2796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终末分支，卒中主战场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56531"/>
            <a:ext cx="118872" cy="118872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4206240"/>
            <a:ext cx="5340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椎-基底动脉系（后循环 · 约占 20%）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4535424"/>
            <a:ext cx="5486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0" i="0">
                <a:solidFill>
                  <a:srgbClr val="5A6B78"/>
                </a:solidFill>
                <a:latin typeface="微软雅黑"/>
              </a:rPr>
              <a:t>锁骨下动脉 → 椎动脉，经 C6—C1 横突孔、枕骨大孔入颅，双侧汇合成基底动脉，供应脑干、小脑、枕叶及颞叶底面。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175504"/>
            <a:ext cx="2670048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5175504"/>
            <a:ext cx="50292" cy="658368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5307679"/>
            <a:ext cx="2285999" cy="219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A1E2E"/>
                </a:solidFill>
                <a:latin typeface="微软雅黑"/>
              </a:rPr>
              <a:t>PICA / AICA / SCA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5526754"/>
            <a:ext cx="2285999" cy="2613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小脑三对动脉，各有综合征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74720" y="5175504"/>
            <a:ext cx="2670048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74720" y="5175504"/>
            <a:ext cx="50292" cy="658368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94176" y="5307679"/>
            <a:ext cx="2285999" cy="2190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A1E2E"/>
                </a:solidFill>
                <a:latin typeface="微软雅黑"/>
              </a:rPr>
              <a:t>脑桥支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94176" y="5526754"/>
            <a:ext cx="2285999" cy="2613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旁正中支、短旋支、长旋支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19088" y="1444752"/>
            <a:ext cx="5202936" cy="4443984"/>
          </a:xfrm>
          <a:prstGeom prst="roundRect">
            <a:avLst>
              <a:gd name="adj" fmla="val 4000"/>
            </a:avLst>
          </a:prstGeom>
          <a:solidFill>
            <a:srgbClr val="ECF2F4"/>
          </a:solidFill>
          <a:ln w="12700">
            <a:solidFill>
              <a:srgbClr val="4FA8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565392" y="1591056"/>
            <a:ext cx="676656" cy="237744"/>
          </a:xfrm>
          <a:prstGeom prst="roundRect">
            <a:avLst>
              <a:gd name="adj" fmla="val 3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65392" y="1613916"/>
            <a:ext cx="6766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微软雅黑"/>
              </a:rPr>
              <a:t>解剖图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93407" y="3429000"/>
            <a:ext cx="465429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2C4455"/>
                </a:solidFill>
                <a:latin typeface="微软雅黑"/>
              </a:rPr>
              <a:t>脑动脉系统全貌图
（颈内动脉系 + 椎基底动脉系，标注各主要分支与走行）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93407" y="5504688"/>
            <a:ext cx="46542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850" b="0" i="1">
                <a:solidFill>
                  <a:srgbClr val="4FA8A6"/>
                </a:solidFill>
                <a:latin typeface="微软雅黑"/>
              </a:rPr>
              <a:t>［ 此处置入图片 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38251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  <a:spcAft>
                <a:spcPts val="400"/>
              </a:spcAft>
            </a:pPr>
            <a:r>
              <a:rPr sz="850" b="0" i="1">
                <a:solidFill>
                  <a:srgbClr val="96A4AE"/>
                </a:solidFill>
                <a:latin typeface="微软雅黑"/>
              </a:rPr>
              <a:t>建议配图：Willis 环立体解剖图 + 脑血管造影正侧位对照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E7C7B"/>
                </a:solidFill>
                <a:latin typeface="微软雅黑"/>
              </a:rPr>
              <a:t>COLLATERAL CIRCULATION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0A1E2E"/>
                </a:solidFill>
                <a:latin typeface="微软雅黑"/>
              </a:rPr>
              <a:t>Willis 环：代偿的中枢枢纽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457200"/>
            <a:ext cx="128016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15039" y="457200"/>
            <a:ext cx="128016" cy="128016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5120640" cy="3017520"/>
          </a:xfrm>
          <a:prstGeom prst="roundRect">
            <a:avLst>
              <a:gd name="adj" fmla="val 4000"/>
            </a:avLst>
          </a:prstGeom>
          <a:solidFill>
            <a:srgbClr val="ECF2F4"/>
          </a:solidFill>
          <a:ln w="12700">
            <a:solidFill>
              <a:srgbClr val="4FA8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1627632"/>
            <a:ext cx="676656" cy="237744"/>
          </a:xfrm>
          <a:prstGeom prst="roundRect">
            <a:avLst>
              <a:gd name="adj" fmla="val 3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50492"/>
            <a:ext cx="6766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微软雅黑"/>
              </a:rPr>
              <a:t>解剖图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752344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2C4455"/>
                </a:solidFill>
                <a:latin typeface="微软雅黑"/>
              </a:rPr>
              <a:t>Willis 环解剖示意
标注：前交通、双侧 A1、后交通、P1、基底动脉顶端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4114800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850" b="0" i="1">
                <a:solidFill>
                  <a:srgbClr val="4FA8A6"/>
                </a:solidFill>
                <a:latin typeface="微软雅黑"/>
              </a:rPr>
              <a:t>［ 此处置入图片 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681728"/>
            <a:ext cx="5120640" cy="1207008"/>
          </a:xfrm>
          <a:prstGeom prst="roundRect">
            <a:avLst>
              <a:gd name="adj" fmla="val 5500"/>
            </a:avLst>
          </a:prstGeom>
          <a:solidFill>
            <a:srgbClr val="D6ECEB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4681728"/>
            <a:ext cx="54864" cy="120700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800600"/>
            <a:ext cx="47000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9B2C22"/>
                </a:solidFill>
                <a:latin typeface="微软雅黑"/>
              </a:rPr>
              <a:t>临床要点：完整率不足一半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5093208"/>
            <a:ext cx="4700016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50" b="0" i="0">
                <a:solidFill>
                  <a:srgbClr val="2C4455"/>
                </a:solidFill>
                <a:latin typeface="微软雅黑"/>
              </a:rPr>
              <a:t>解剖学完整的 Willis 环仅见于约 40—50% 人群。变异（A1 发育不良、胚胎型大脑后动脉、后交通缺如）直接决定大血管闭塞后的侧支代偿能力，也解释了同样闭塞部位预后差异悬殊。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0448" y="1495044"/>
            <a:ext cx="118872" cy="11887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08192" y="1444752"/>
            <a:ext cx="5522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侧支循环三级代偿体系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70448" y="1810512"/>
            <a:ext cx="57607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89320" y="2052828"/>
            <a:ext cx="228600" cy="2286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9320" y="2048256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892807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2C4455"/>
                </a:solidFill>
                <a:latin typeface="微软雅黑"/>
              </a:rPr>
              <a:t>一级：Willis 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103120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前/后交通动脉，秒级开放，代偿能力最强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03620" y="2523744"/>
            <a:ext cx="27432" cy="164592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870448" y="2688336"/>
            <a:ext cx="57607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89320" y="2930652"/>
            <a:ext cx="228600" cy="2286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89320" y="292608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770632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2C4455"/>
                </a:solidFill>
                <a:latin typeface="微软雅黑"/>
              </a:rPr>
              <a:t>二级：眼动脉与软脑膜吻合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980944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颈外-颈内沟通；皮层软脑膜侧支决定半暗带存活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3620" y="3401568"/>
            <a:ext cx="27432" cy="164592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870448" y="3566160"/>
            <a:ext cx="57607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989320" y="3808476"/>
            <a:ext cx="228600" cy="2286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89320" y="3803904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648456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2C4455"/>
                </a:solidFill>
                <a:latin typeface="微软雅黑"/>
              </a:rPr>
              <a:t>三级：新生血管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858768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慢性缺血下数周至数月形成，如烟雾病侧支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70448" y="4425696"/>
            <a:ext cx="5760720" cy="1463040"/>
          </a:xfrm>
          <a:prstGeom prst="roundRect">
            <a:avLst>
              <a:gd name="adj" fmla="val 5500"/>
            </a:avLst>
          </a:prstGeom>
          <a:solidFill>
            <a:srgbClr val="FDE6E3"/>
          </a:solidFill>
          <a:ln w="9525">
            <a:solidFill>
              <a:srgbClr val="E85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70448" y="4425696"/>
            <a:ext cx="54864" cy="1463040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08192" y="4544568"/>
            <a:ext cx="53400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9B2C22"/>
                </a:solidFill>
                <a:latin typeface="微软雅黑"/>
              </a:rPr>
              <a:t>分水岭梗死：康复中易被误判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08192" y="4837176"/>
            <a:ext cx="5340096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00" b="0" i="0">
                <a:solidFill>
                  <a:srgbClr val="2C4455"/>
                </a:solidFill>
                <a:latin typeface="微软雅黑"/>
              </a:rPr>
              <a:t>皮层型（ACA-MCA 或 MCA-PCA 交界）→ 经皮质性失语、上肢近端为主无力
内分水岭型（深部串珠样）→ 进展性卒中风险高，血压不可贸然下调
机制以低灌注 + 微栓子清除障碍为主，早期离床需格外谨慎。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38251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  <a:spcAft>
                <a:spcPts val="400"/>
              </a:spcAft>
            </a:pPr>
            <a:r>
              <a:rPr sz="850" b="0" i="1">
                <a:solidFill>
                  <a:srgbClr val="96A4AE"/>
                </a:solidFill>
                <a:latin typeface="微软雅黑"/>
              </a:rPr>
              <a:t>侧支循环状态是血管内治疗预后的独立预测因子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E7C7B"/>
                </a:solidFill>
                <a:latin typeface="微软雅黑"/>
              </a:rPr>
              <a:t>ARTERIAL TERRITORIES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0A1E2E"/>
                </a:solidFill>
                <a:latin typeface="微软雅黑"/>
              </a:rPr>
              <a:t>三大脑动脉：供血区与功能缺损对应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457200"/>
            <a:ext cx="128016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15039" y="457200"/>
            <a:ext cx="128016" cy="128016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11057839" cy="402336"/>
          </a:xfrm>
          <a:prstGeom prst="rect">
            <a:avLst/>
          </a:prstGeom>
          <a:solidFill>
            <a:srgbClr val="12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577340"/>
            <a:ext cx="13341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微软雅黑"/>
              </a:rPr>
              <a:t>动脉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30236" y="1577340"/>
            <a:ext cx="27049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微软雅黑"/>
              </a:rPr>
              <a:t>供血区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4623" y="1577340"/>
            <a:ext cx="6360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微软雅黑"/>
              </a:rPr>
              <a:t>典型临床表现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83664"/>
            <a:ext cx="11057839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180844"/>
            <a:ext cx="13341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大脑前动脉
ACA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30236" y="2180844"/>
            <a:ext cx="27049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额叶内侧面
旁中央小叶
胼胝体前 4/5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4623" y="2180844"/>
            <a:ext cx="63604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对侧下肢重于上肢的偏瘫
尿失禁 · 强握反射
淡漠、意志缺失（额叶内侧）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670048"/>
            <a:ext cx="11057839" cy="786384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967228"/>
            <a:ext cx="13341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大脑中动脉
MCA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30236" y="2967228"/>
            <a:ext cx="27049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半球外侧面大部
基底节、内囊
颞叶上部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4623" y="2967228"/>
            <a:ext cx="63604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对侧上肢及面部重于下肢
优势半球→失语；非优势→忽略
偏盲 · 凝视向病灶侧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456432"/>
            <a:ext cx="11057839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3753611"/>
            <a:ext cx="13341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大脑后动脉
PCA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30236" y="3753611"/>
            <a:ext cx="27049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枕叶、颞叶底面
丘脑、中脑
胼胝体压部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4623" y="3753611"/>
            <a:ext cx="63604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对侧同向偏盲（黄斑回避）
丘脑综合征 · 中枢痛
失读不伴失写（压部受累）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1481328"/>
            <a:ext cx="11057839" cy="2761488"/>
          </a:xfrm>
          <a:prstGeom prst="rect">
            <a:avLst/>
          </a:prstGeom>
          <a:noFill/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6928" y="4407408"/>
            <a:ext cx="5577840" cy="1700784"/>
          </a:xfrm>
          <a:prstGeom prst="roundRect">
            <a:avLst>
              <a:gd name="adj" fmla="val 4000"/>
            </a:avLst>
          </a:prstGeom>
          <a:solidFill>
            <a:srgbClr val="ECF2F4"/>
          </a:solidFill>
          <a:ln w="12700">
            <a:solidFill>
              <a:srgbClr val="4FA8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13232" y="4553712"/>
            <a:ext cx="676656" cy="237744"/>
          </a:xfrm>
          <a:prstGeom prst="roundRect">
            <a:avLst>
              <a:gd name="adj" fmla="val 3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576572"/>
            <a:ext cx="6766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微软雅黑"/>
              </a:rPr>
              <a:t>解剖图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5020056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2C4455"/>
                </a:solidFill>
                <a:latin typeface="微软雅黑"/>
              </a:rPr>
              <a:t>三大动脉供血区着色图（轴位 + 冠状位 + 内侧面）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5724144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850" b="0" i="1">
                <a:solidFill>
                  <a:srgbClr val="4FA8A6"/>
                </a:solidFill>
                <a:latin typeface="微软雅黑"/>
              </a:rPr>
              <a:t>［ 此处置入图片 ］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6208" y="4407408"/>
            <a:ext cx="5394960" cy="1700784"/>
          </a:xfrm>
          <a:prstGeom prst="roundRect">
            <a:avLst>
              <a:gd name="adj" fmla="val 5500"/>
            </a:avLst>
          </a:prstGeom>
          <a:solidFill>
            <a:srgbClr val="D6ECEB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36208" y="4407408"/>
            <a:ext cx="54864" cy="17007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3952" y="4526280"/>
            <a:ext cx="4974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9B2C22"/>
                </a:solidFill>
                <a:latin typeface="微软雅黑"/>
              </a:rPr>
              <a:t>定位速判的临床技巧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4818888"/>
            <a:ext cx="497433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00" b="0" i="0">
                <a:solidFill>
                  <a:srgbClr val="2C4455"/>
                </a:solidFill>
                <a:latin typeface="微软雅黑"/>
              </a:rPr>
              <a:t>① 上肢重于下肢 → MCA；下肢重于上肢 → ACA
② 面-手-臂同时受累且伴失语 → MCA 主干或上干
③ 孤立性偏盲 + 记忆障碍 → PCA
④ 交叉性瘫（同侧颅神经 + 对侧肢体）→ 脑干，绝非半球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38251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  <a:spcAft>
                <a:spcPts val="400"/>
              </a:spcAft>
            </a:pPr>
            <a:r>
              <a:rPr sz="850" b="0" i="1">
                <a:solidFill>
                  <a:srgbClr val="96A4AE"/>
                </a:solidFill>
                <a:latin typeface="微软雅黑"/>
              </a:rPr>
              <a:t>康复意义：责任血管决定功能缺损谱系与代偿策略选择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E7C7B"/>
                </a:solidFill>
                <a:latin typeface="微软雅黑"/>
              </a:rPr>
              <a:t>PERFORATING ARTERIES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0A1E2E"/>
                </a:solidFill>
                <a:latin typeface="微软雅黑"/>
              </a:rPr>
              <a:t>深穿支与内囊：小病灶、大残疾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457200"/>
            <a:ext cx="128016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15039" y="457200"/>
            <a:ext cx="128016" cy="128016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26464"/>
            <a:ext cx="5669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400"/>
              </a:spcAft>
            </a:pPr>
            <a:r>
              <a:rPr sz="1200" b="0" i="0">
                <a:solidFill>
                  <a:srgbClr val="2C4455"/>
                </a:solidFill>
                <a:latin typeface="微软雅黑"/>
              </a:rPr>
              <a:t>豆纹动脉、丘脑穿通动脉、Heubner 回返动脉等深穿支均为终末动脉，缺乏侧支吻合，直径 100—400 μm，是腔隙性梗死与高血压性脑出血的共同好发部位。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336292"/>
            <a:ext cx="118872" cy="11887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5431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内囊的纤维排布（后肢自前向后）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651760"/>
            <a:ext cx="5669280" cy="384048"/>
          </a:xfrm>
          <a:prstGeom prst="rect">
            <a:avLst/>
          </a:prstGeom>
          <a:solidFill>
            <a:srgbClr val="12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738628"/>
            <a:ext cx="1152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部位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48256" y="2738628"/>
            <a:ext cx="1792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通过纤维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9936" y="2738628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受损表现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035808"/>
            <a:ext cx="56692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3122676"/>
            <a:ext cx="11521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膝部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48256" y="3122676"/>
            <a:ext cx="17922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皮质延髓束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9936" y="3122676"/>
            <a:ext cx="206654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中枢性面舌瘫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401568"/>
            <a:ext cx="5669280" cy="365760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488436"/>
            <a:ext cx="11521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后肢前 2/3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48256" y="3488436"/>
            <a:ext cx="17922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皮质脊髓束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9936" y="3488436"/>
            <a:ext cx="206654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上肢→躯干→下肢躯体定位排列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767328"/>
            <a:ext cx="56692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54196"/>
            <a:ext cx="11521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后肢后 1/3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48256" y="3854196"/>
            <a:ext cx="17922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丘脑皮质束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59936" y="3854196"/>
            <a:ext cx="206654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对侧偏身感觉障碍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133088"/>
            <a:ext cx="5669280" cy="365760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219956"/>
            <a:ext cx="11521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后肢最后部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48256" y="4219956"/>
            <a:ext cx="17922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视辐射、听辐射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59936" y="4219956"/>
            <a:ext cx="206654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对侧同向偏盲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2651760"/>
            <a:ext cx="5669280" cy="1847088"/>
          </a:xfrm>
          <a:prstGeom prst="rect">
            <a:avLst/>
          </a:prstGeom>
          <a:noFill/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66928" y="4425696"/>
            <a:ext cx="5669280" cy="1188720"/>
          </a:xfrm>
          <a:prstGeom prst="roundRect">
            <a:avLst>
              <a:gd name="adj" fmla="val 5500"/>
            </a:avLst>
          </a:prstGeom>
          <a:solidFill>
            <a:srgbClr val="FDE6E3"/>
          </a:solidFill>
          <a:ln w="9525">
            <a:solidFill>
              <a:srgbClr val="E85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4425696"/>
            <a:ext cx="54864" cy="1188720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4544568"/>
            <a:ext cx="52486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9B2C22"/>
                </a:solidFill>
                <a:latin typeface="微软雅黑"/>
              </a:rPr>
              <a:t>为何「三偏征」提示预后不良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4837176"/>
            <a:ext cx="5248656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50" b="0" i="0">
                <a:solidFill>
                  <a:srgbClr val="2C4455"/>
                </a:solidFill>
                <a:latin typeface="微软雅黑"/>
              </a:rPr>
              <a:t>内囊后肢集中了运动、感觉、视觉三大通路，1—2 cm 的病灶即可造成偏瘫 + 偏身感觉障碍 + 偏盲。其中感觉缺失与视野缺损会显著削弱运动学习效率，是康复预后的负性预测因子。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10528" y="1426464"/>
            <a:ext cx="5111496" cy="1920240"/>
          </a:xfrm>
          <a:prstGeom prst="roundRect">
            <a:avLst>
              <a:gd name="adj" fmla="val 4000"/>
            </a:avLst>
          </a:prstGeom>
          <a:solidFill>
            <a:srgbClr val="ECF2F4"/>
          </a:solidFill>
          <a:ln w="12700">
            <a:solidFill>
              <a:srgbClr val="4FA8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656832" y="1572768"/>
            <a:ext cx="676656" cy="237744"/>
          </a:xfrm>
          <a:prstGeom prst="roundRect">
            <a:avLst>
              <a:gd name="adj" fmla="val 3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56832" y="1595628"/>
            <a:ext cx="6766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微软雅黑"/>
              </a:rPr>
              <a:t>解剖图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84848" y="2148840"/>
            <a:ext cx="456285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2C4455"/>
                </a:solidFill>
                <a:latin typeface="微软雅黑"/>
              </a:rPr>
              <a:t>内囊水平轴位解剖图
标注前肢/膝部/后肢及各纤维束躯体定位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4848" y="2962656"/>
            <a:ext cx="45628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850" b="0" i="1">
                <a:solidFill>
                  <a:srgbClr val="4FA8A6"/>
                </a:solidFill>
                <a:latin typeface="微软雅黑"/>
              </a:rPr>
              <a:t>［ 此处置入图片 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10528" y="3561588"/>
            <a:ext cx="118872" cy="118872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48272" y="3511296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五大经典腔隙综合征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10528" y="3858768"/>
            <a:ext cx="5111496" cy="4206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10528" y="3858768"/>
            <a:ext cx="50292" cy="420624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29984" y="3922776"/>
            <a:ext cx="4727448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50" b="1" i="0">
                <a:solidFill>
                  <a:srgbClr val="0A1E2E"/>
                </a:solidFill>
                <a:latin typeface="微软雅黑"/>
              </a:rPr>
              <a:t>纯运动性轻偏瘫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9984" y="4122801"/>
            <a:ext cx="4727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00" b="0" i="0">
                <a:solidFill>
                  <a:srgbClr val="5A6B78"/>
                </a:solidFill>
                <a:latin typeface="微软雅黑"/>
              </a:rPr>
              <a:t>内囊后肢 / 脑桥基底，最常见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10528" y="4357116"/>
            <a:ext cx="5111496" cy="4206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10528" y="4357116"/>
            <a:ext cx="50292" cy="420624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29984" y="4421124"/>
            <a:ext cx="4727448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50" b="1" i="0">
                <a:solidFill>
                  <a:srgbClr val="0A1E2E"/>
                </a:solidFill>
                <a:latin typeface="微软雅黑"/>
              </a:rPr>
              <a:t>纯感觉性卒中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29984" y="4621149"/>
            <a:ext cx="4727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00" b="0" i="0">
                <a:solidFill>
                  <a:srgbClr val="5A6B78"/>
                </a:solidFill>
                <a:latin typeface="微软雅黑"/>
              </a:rPr>
              <a:t>丘脑腹后外侧核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10528" y="4855464"/>
            <a:ext cx="5111496" cy="4206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10528" y="4855464"/>
            <a:ext cx="50292" cy="420624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29984" y="4919472"/>
            <a:ext cx="4727448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50" b="1" i="0">
                <a:solidFill>
                  <a:srgbClr val="0A1E2E"/>
                </a:solidFill>
                <a:latin typeface="微软雅黑"/>
              </a:rPr>
              <a:t>共济失调性轻偏瘫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29984" y="5119497"/>
            <a:ext cx="4727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00" b="0" i="0">
                <a:solidFill>
                  <a:srgbClr val="5A6B78"/>
                </a:solidFill>
                <a:latin typeface="微软雅黑"/>
              </a:rPr>
              <a:t>下肢重，内囊或脑桥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10528" y="5353812"/>
            <a:ext cx="5111496" cy="4206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510528" y="5353812"/>
            <a:ext cx="50292" cy="420624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29984" y="5417820"/>
            <a:ext cx="4727448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50" b="1" i="0">
                <a:solidFill>
                  <a:srgbClr val="0A1E2E"/>
                </a:solidFill>
                <a:latin typeface="微软雅黑"/>
              </a:rPr>
              <a:t>构音障碍-手笨拙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29984" y="5617845"/>
            <a:ext cx="4727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00" b="0" i="0">
                <a:solidFill>
                  <a:srgbClr val="5A6B78"/>
                </a:solidFill>
                <a:latin typeface="微软雅黑"/>
              </a:rPr>
              <a:t>脑桥基底部上 1/3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10528" y="5852160"/>
            <a:ext cx="5111496" cy="4206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510528" y="5852160"/>
            <a:ext cx="50292" cy="420624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729984" y="5916168"/>
            <a:ext cx="4727448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50" b="1" i="0">
                <a:solidFill>
                  <a:srgbClr val="0A1E2E"/>
                </a:solidFill>
                <a:latin typeface="微软雅黑"/>
              </a:rPr>
              <a:t>感觉运动性卒中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29984" y="6116193"/>
            <a:ext cx="4727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900" b="0" i="0">
                <a:solidFill>
                  <a:srgbClr val="5A6B78"/>
                </a:solidFill>
                <a:latin typeface="微软雅黑"/>
              </a:rPr>
              <a:t>丘脑 + 内囊，预后较差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638251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  <a:spcAft>
                <a:spcPts val="400"/>
              </a:spcAft>
            </a:pPr>
            <a:r>
              <a:rPr sz="850" b="0" i="1">
                <a:solidFill>
                  <a:srgbClr val="96A4AE"/>
                </a:solidFill>
                <a:latin typeface="微软雅黑"/>
              </a:rPr>
              <a:t>腔隙性梗死占缺血性卒中约 25%，康复潜力通常优于皮层大梗死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E7C7B"/>
                </a:solidFill>
                <a:latin typeface="微软雅黑"/>
              </a:rPr>
              <a:t>BRAINSTEM SYNDROMES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0A1E2E"/>
                </a:solidFill>
                <a:latin typeface="微软雅黑"/>
              </a:rPr>
              <a:t>脑干血管综合征：交叉性体征的定位价值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457200"/>
            <a:ext cx="128016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15039" y="457200"/>
            <a:ext cx="128016" cy="128016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11057839" cy="402336"/>
          </a:xfrm>
          <a:prstGeom prst="rect">
            <a:avLst/>
          </a:prstGeom>
          <a:solidFill>
            <a:srgbClr val="12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577340"/>
            <a:ext cx="160828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微软雅黑"/>
              </a:rPr>
              <a:t>综合征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4398" y="1577340"/>
            <a:ext cx="30704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微软雅黑"/>
              </a:rPr>
              <a:t>病变部位 / 责任血管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94333" y="1577340"/>
            <a:ext cx="572070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微软雅黑"/>
              </a:rPr>
              <a:t>核心体征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83664"/>
            <a:ext cx="11057839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1997964"/>
            <a:ext cx="160828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Weber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4398" y="1997964"/>
            <a:ext cx="30704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中脑腹侧 / PCA 穿支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4333" y="1997964"/>
            <a:ext cx="57207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同侧动眼神经麻痹 + 对侧偏瘫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304288"/>
            <a:ext cx="11057839" cy="420624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418588"/>
            <a:ext cx="160828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Benedikt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04398" y="2418588"/>
            <a:ext cx="30704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中脑被盖 / 红核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4333" y="2418588"/>
            <a:ext cx="57207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同侧动眼麻痹 + 对侧不自主运动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724912"/>
            <a:ext cx="11057839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2839212"/>
            <a:ext cx="160828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Millard-Gubler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04398" y="2839212"/>
            <a:ext cx="30704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脑桥腹外侧 / 基底动脉短旋支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94333" y="2839212"/>
            <a:ext cx="57207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同侧面神经+展神经麻痹 + 对侧偏瘫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145536"/>
            <a:ext cx="11057839" cy="420624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3259836"/>
            <a:ext cx="160828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Foville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04398" y="3259836"/>
            <a:ext cx="30704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脑桥基底内侧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94333" y="3259836"/>
            <a:ext cx="57207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双眼向病灶侧凝视麻痹 + 对侧偏瘫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566160"/>
            <a:ext cx="11057839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3680460"/>
            <a:ext cx="160828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Wallenberg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04398" y="3680460"/>
            <a:ext cx="30704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延髓背外侧 / PICA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94333" y="3680460"/>
            <a:ext cx="57207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交叉性感觉障碍、眩晕、吞咽困难、Horner、共济失调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986784"/>
            <a:ext cx="11057839" cy="420624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4101084"/>
            <a:ext cx="160828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闭锁综合征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04398" y="4101084"/>
            <a:ext cx="30704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脑桥基底部双侧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94333" y="4101084"/>
            <a:ext cx="572070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四肢瘫+失语，仅存垂直眼动与眨眼，意识清醒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1481328"/>
            <a:ext cx="11057839" cy="2926080"/>
          </a:xfrm>
          <a:prstGeom prst="rect">
            <a:avLst/>
          </a:prstGeom>
          <a:noFill/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66928" y="4590288"/>
            <a:ext cx="5669280" cy="1517904"/>
          </a:xfrm>
          <a:prstGeom prst="roundRect">
            <a:avLst>
              <a:gd name="adj" fmla="val 5500"/>
            </a:avLst>
          </a:prstGeom>
          <a:solidFill>
            <a:srgbClr val="D6ECEB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" y="4590288"/>
            <a:ext cx="54864" cy="151790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4709159"/>
            <a:ext cx="52486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9B2C22"/>
                </a:solidFill>
                <a:latin typeface="微软雅黑"/>
              </a:rPr>
              <a:t>Wallenberg 的康复重点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" y="5001768"/>
            <a:ext cx="5248656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50" b="0" i="0">
                <a:solidFill>
                  <a:srgbClr val="2C4455"/>
                </a:solidFill>
                <a:latin typeface="微软雅黑"/>
              </a:rPr>
              <a:t>延髓背外侧梗死的核心康复问题不是肢体无力，而是环咽肌失弛缓导致的重度吞咽障碍 —— 需早期 VFSS 评估，多数需球囊扩张术配合吞咽训练，误吸性肺炎防控是首要任务。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36208" y="4590288"/>
            <a:ext cx="5394960" cy="1517904"/>
          </a:xfrm>
          <a:prstGeom prst="roundRect">
            <a:avLst>
              <a:gd name="adj" fmla="val 5500"/>
            </a:avLst>
          </a:prstGeom>
          <a:solidFill>
            <a:srgbClr val="FDE6E3"/>
          </a:solidFill>
          <a:ln w="9525">
            <a:solidFill>
              <a:srgbClr val="E85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36208" y="4590288"/>
            <a:ext cx="54864" cy="1517904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73952" y="4709159"/>
            <a:ext cx="4974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9B2C22"/>
                </a:solidFill>
                <a:latin typeface="微软雅黑"/>
              </a:rPr>
              <a:t>闭锁综合征的人文警示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3952" y="5001768"/>
            <a:ext cx="4974336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50" b="0" i="0">
                <a:solidFill>
                  <a:srgbClr val="2C4455"/>
                </a:solidFill>
                <a:latin typeface="微软雅黑"/>
              </a:rPr>
              <a:t>患者意识完全清醒却无法表达，极易被误判为昏迷或植物状态。
务必建立垂直眼动沟通编码（如上视=是），并在查房时始终以对话姿态交流 —— 这是医学伦理的底线。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638251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  <a:spcAft>
                <a:spcPts val="400"/>
              </a:spcAft>
            </a:pPr>
            <a:r>
              <a:rPr sz="850" b="0" i="1">
                <a:solidFill>
                  <a:srgbClr val="96A4AE"/>
                </a:solidFill>
                <a:latin typeface="微软雅黑"/>
              </a:rPr>
              <a:t>交叉性体征 = 脑干定位的金标准：同侧颅神经 + 对侧长束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0312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600" b="1" i="0">
                <a:solidFill>
                  <a:srgbClr val="4FA8A6"/>
                </a:solidFill>
                <a:latin typeface="微软雅黑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3145536"/>
            <a:ext cx="731520" cy="45720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438144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3100" b="1" i="0">
                <a:solidFill>
                  <a:srgbClr val="FFFFFF"/>
                </a:solidFill>
                <a:latin typeface="微软雅黑"/>
              </a:rPr>
              <a:t>影像判读与
临床决策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98848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400"/>
              </a:spcAft>
            </a:pPr>
            <a:r>
              <a:rPr sz="1200" b="0" i="0">
                <a:solidFill>
                  <a:srgbClr val="9FB8C4"/>
                </a:solidFill>
                <a:latin typeface="微软雅黑"/>
              </a:rPr>
              <a:t>康复医师必须看懂的那几张片子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231136"/>
            <a:ext cx="109728" cy="109728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3969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 i="0">
                <a:solidFill>
                  <a:srgbClr val="D6E4EB"/>
                </a:solidFill>
                <a:latin typeface="微软雅黑"/>
              </a:rPr>
              <a:t>CT 与 MRI 各序列的时间窗表现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834640"/>
            <a:ext cx="109728" cy="109728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7432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 i="0">
                <a:solidFill>
                  <a:srgbClr val="D6E4EB"/>
                </a:solidFill>
                <a:latin typeface="微软雅黑"/>
              </a:rPr>
              <a:t>早期缺血征象与 ASPECTS 评分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438144"/>
            <a:ext cx="109728" cy="109728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346704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 i="0">
                <a:solidFill>
                  <a:srgbClr val="D6E4EB"/>
                </a:solidFill>
                <a:latin typeface="微软雅黑"/>
              </a:rPr>
              <a:t>出血的影像分型与血肿扩大预测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4041648"/>
            <a:ext cx="109728" cy="109728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95020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 i="0">
                <a:solidFill>
                  <a:srgbClr val="D6E4EB"/>
                </a:solidFill>
                <a:latin typeface="微软雅黑"/>
              </a:rPr>
              <a:t>DWI-FLAIR 失配与灌注筛选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4645152"/>
            <a:ext cx="109728" cy="109728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455371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 i="0">
                <a:solidFill>
                  <a:srgbClr val="D6E4EB"/>
                </a:solidFill>
                <a:latin typeface="微软雅黑"/>
              </a:rPr>
              <a:t>影像所见如何转化为康复方案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E7C7B"/>
                </a:solidFill>
                <a:latin typeface="微软雅黑"/>
              </a:rPr>
              <a:t>IMAGING · 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0A1E2E"/>
                </a:solidFill>
                <a:latin typeface="微软雅黑"/>
              </a:rPr>
              <a:t>CT：急诊第一张片子该看什么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457200"/>
            <a:ext cx="128016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15039" y="457200"/>
            <a:ext cx="128016" cy="128016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95044"/>
            <a:ext cx="118872" cy="11887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444752"/>
            <a:ext cx="5340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早期缺血征象（发病 6 小时内）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92224"/>
            <a:ext cx="5486400" cy="117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100" b="1">
                <a:solidFill>
                  <a:srgbClr val="0E7C7B"/>
                </a:solidFill>
                <a:latin typeface="微软雅黑"/>
              </a:rPr>
              <a:t>▪  </a:t>
            </a:r>
            <a:r>
              <a:rPr sz="1100" b="1">
                <a:solidFill>
                  <a:srgbClr val="2C4455"/>
                </a:solidFill>
                <a:latin typeface="微软雅黑"/>
              </a:rPr>
              <a:t>致密动脉征：</a:t>
            </a:r>
            <a:r>
              <a:rPr sz="1100">
                <a:solidFill>
                  <a:srgbClr val="5A6B78"/>
                </a:solidFill>
                <a:latin typeface="微软雅黑"/>
              </a:rPr>
              <a:t>MCA 或基底动脉高密度，提示血栓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100" b="1">
                <a:solidFill>
                  <a:srgbClr val="0E7C7B"/>
                </a:solidFill>
                <a:latin typeface="微软雅黑"/>
              </a:rPr>
              <a:t>▪  </a:t>
            </a:r>
            <a:r>
              <a:rPr sz="1100" b="1">
                <a:solidFill>
                  <a:srgbClr val="2C4455"/>
                </a:solidFill>
                <a:latin typeface="微软雅黑"/>
              </a:rPr>
              <a:t>岛带征：</a:t>
            </a:r>
            <a:r>
              <a:rPr sz="1100">
                <a:solidFill>
                  <a:srgbClr val="5A6B78"/>
                </a:solidFill>
                <a:latin typeface="微软雅黑"/>
              </a:rPr>
              <a:t>岛叶皮层灰白质界面模糊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100" b="1">
                <a:solidFill>
                  <a:srgbClr val="0E7C7B"/>
                </a:solidFill>
                <a:latin typeface="微软雅黑"/>
              </a:rPr>
              <a:t>▪  </a:t>
            </a:r>
            <a:r>
              <a:rPr sz="1100" b="1">
                <a:solidFill>
                  <a:srgbClr val="2C4455"/>
                </a:solidFill>
                <a:latin typeface="微软雅黑"/>
              </a:rPr>
              <a:t>豆状核模糊：</a:t>
            </a:r>
            <a:r>
              <a:rPr sz="1100">
                <a:solidFill>
                  <a:srgbClr val="5A6B78"/>
                </a:solidFill>
                <a:latin typeface="微软雅黑"/>
              </a:rPr>
              <a:t>基底节区密度减低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100" b="1">
                <a:solidFill>
                  <a:srgbClr val="0E7C7B"/>
                </a:solidFill>
                <a:latin typeface="微软雅黑"/>
              </a:rPr>
              <a:t>▪  </a:t>
            </a:r>
            <a:r>
              <a:rPr sz="1100" b="1">
                <a:solidFill>
                  <a:srgbClr val="2C4455"/>
                </a:solidFill>
                <a:latin typeface="微软雅黑"/>
              </a:rPr>
              <a:t>脑沟消失：</a:t>
            </a:r>
            <a:r>
              <a:rPr sz="1100">
                <a:solidFill>
                  <a:srgbClr val="5A6B78"/>
                </a:solidFill>
                <a:latin typeface="微软雅黑"/>
              </a:rPr>
              <a:t>局部脑回肿胀，占位效应早期表现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561588"/>
            <a:ext cx="118872" cy="118872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511296"/>
            <a:ext cx="5340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ASPECTS 评分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840480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50" b="0" i="0">
                <a:solidFill>
                  <a:srgbClr val="5A6B78"/>
                </a:solidFill>
                <a:latin typeface="微软雅黑"/>
              </a:rPr>
              <a:t>将 MCA 供血区分为 10 个区域，每出现一处早期缺血改变减 1 分。≤7 分提示大面积梗死、出血转化风险高；取栓获益随评分降低而下降。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590288"/>
            <a:ext cx="5577840" cy="1389888"/>
          </a:xfrm>
          <a:prstGeom prst="roundRect">
            <a:avLst>
              <a:gd name="adj" fmla="val 5500"/>
            </a:avLst>
          </a:prstGeom>
          <a:solidFill>
            <a:srgbClr val="D6ECEB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4590288"/>
            <a:ext cx="54864" cy="138988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4709159"/>
            <a:ext cx="51572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9B2C22"/>
                </a:solidFill>
                <a:latin typeface="微软雅黑"/>
              </a:rPr>
              <a:t>康复科为何要看 ASPECTS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5001768"/>
            <a:ext cx="5157216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50" b="0" i="0">
                <a:solidFill>
                  <a:srgbClr val="2C4455"/>
                </a:solidFill>
                <a:latin typeface="微软雅黑"/>
              </a:rPr>
              <a:t>评分低 = 梗死体积大 = 恶性脑水肿风险高。此类患者早期离床、头高位管理、活动强度均需谨慎；同时预示上肢功能恢复潜力受限，应尽早引入代偿策略而非单纯等待自然恢复。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444752"/>
            <a:ext cx="5294376" cy="4535424"/>
          </a:xfrm>
          <a:prstGeom prst="roundRect">
            <a:avLst>
              <a:gd name="adj" fmla="val 4000"/>
            </a:avLst>
          </a:prstGeom>
          <a:solidFill>
            <a:srgbClr val="ECF2F4"/>
          </a:solidFill>
          <a:ln w="12700">
            <a:solidFill>
              <a:srgbClr val="4FA8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73952" y="1591056"/>
            <a:ext cx="676656" cy="237744"/>
          </a:xfrm>
          <a:prstGeom prst="roundRect">
            <a:avLst>
              <a:gd name="adj" fmla="val 3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1613916"/>
            <a:ext cx="6766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微软雅黑"/>
              </a:rPr>
              <a:t>影像图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474720"/>
            <a:ext cx="474573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2C4455"/>
                </a:solidFill>
                <a:latin typeface="微软雅黑"/>
              </a:rPr>
              <a:t>CT 影像对照组图
① 正常 ② 致密动脉征 ③ 岛带征
④ ASPECTS 分区模板 ⑤ 大面积梗死占位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5596128"/>
            <a:ext cx="47457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850" b="0" i="1">
                <a:solidFill>
                  <a:srgbClr val="4FA8A6"/>
                </a:solidFill>
                <a:latin typeface="微软雅黑"/>
              </a:rPr>
              <a:t>［ 此处置入图片 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38251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  <a:spcAft>
                <a:spcPts val="400"/>
              </a:spcAft>
            </a:pPr>
            <a:r>
              <a:rPr sz="850" b="0" i="1">
                <a:solidFill>
                  <a:srgbClr val="96A4AE"/>
                </a:solidFill>
                <a:latin typeface="微软雅黑"/>
              </a:rPr>
              <a:t>平扫 CT 的首要任务：排除出血，而非确诊梗死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E7C7B"/>
                </a:solidFill>
                <a:latin typeface="微软雅黑"/>
              </a:rPr>
              <a:t>IMAGING · MRI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0A1E2E"/>
                </a:solidFill>
                <a:latin typeface="微软雅黑"/>
              </a:rPr>
              <a:t>MRI 各序列：读懂时间与组织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457200"/>
            <a:ext cx="128016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15039" y="457200"/>
            <a:ext cx="128016" cy="128016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11057839" cy="402336"/>
          </a:xfrm>
          <a:prstGeom prst="rect">
            <a:avLst/>
          </a:prstGeom>
          <a:solidFill>
            <a:srgbClr val="12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577340"/>
            <a:ext cx="10599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微软雅黑"/>
              </a:rPr>
              <a:t>序列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6075" y="1577340"/>
            <a:ext cx="160828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微软雅黑"/>
              </a:rPr>
              <a:t>阳性时间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3817" y="1577340"/>
            <a:ext cx="197383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微软雅黑"/>
              </a:rPr>
              <a:t>急性梗死表现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7107" y="1577340"/>
            <a:ext cx="55379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微软雅黑"/>
              </a:rPr>
              <a:t>临床价值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1057839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1979676"/>
            <a:ext cx="105996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DWI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075" y="1979676"/>
            <a:ext cx="160828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数分钟内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3817" y="1979676"/>
            <a:ext cx="197383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高信号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7107" y="1979676"/>
            <a:ext cx="55379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急性梗死最敏感，金标准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267712"/>
            <a:ext cx="11057839" cy="384048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2363724"/>
            <a:ext cx="105996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ADC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56075" y="2363724"/>
            <a:ext cx="160828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数分钟内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83817" y="2363724"/>
            <a:ext cx="197383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低信号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7107" y="2363724"/>
            <a:ext cx="55379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与 DWI 对照排除 T2 透过效应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651760"/>
            <a:ext cx="11057839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747772"/>
            <a:ext cx="105996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FLAIR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6075" y="2747772"/>
            <a:ext cx="160828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约 4.5—6 h 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3817" y="2747772"/>
            <a:ext cx="197383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高信号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77107" y="2747772"/>
            <a:ext cx="55379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DWI(+)/FLAIR(−) 提示超早期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035808"/>
            <a:ext cx="11057839" cy="384048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3131820"/>
            <a:ext cx="105996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SWI / GRE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6075" y="3131820"/>
            <a:ext cx="160828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即刻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83817" y="3131820"/>
            <a:ext cx="197383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低信号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77107" y="3131820"/>
            <a:ext cx="55379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微出血、含铁血黄素沉积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419856"/>
            <a:ext cx="11057839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" y="3515868"/>
            <a:ext cx="105996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PWI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56075" y="3515868"/>
            <a:ext cx="160828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即刻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83817" y="3515868"/>
            <a:ext cx="197383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灌注延迟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77107" y="3515868"/>
            <a:ext cx="55379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与 DWI 失配 = 可挽救半暗带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3803904"/>
            <a:ext cx="11057839" cy="384048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" y="3899915"/>
            <a:ext cx="105996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MRA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56075" y="3899915"/>
            <a:ext cx="160828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83817" y="3899915"/>
            <a:ext cx="197383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血管显影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77107" y="3899915"/>
            <a:ext cx="55379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评估狭窄、闭塞与侧支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1481328"/>
            <a:ext cx="11057839" cy="2706624"/>
          </a:xfrm>
          <a:prstGeom prst="rect">
            <a:avLst/>
          </a:prstGeom>
          <a:noFill/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66928" y="4407408"/>
            <a:ext cx="5669280" cy="1554480"/>
          </a:xfrm>
          <a:prstGeom prst="roundRect">
            <a:avLst>
              <a:gd name="adj" fmla="val 5500"/>
            </a:avLst>
          </a:prstGeom>
          <a:solidFill>
            <a:srgbClr val="D6ECEB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4407408"/>
            <a:ext cx="54864" cy="155448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" y="4526280"/>
            <a:ext cx="52486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9B2C22"/>
                </a:solidFill>
                <a:latin typeface="微软雅黑"/>
              </a:rPr>
              <a:t>DWI-FLAIR 失配的实战意义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" y="4818888"/>
            <a:ext cx="5248656" cy="1042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50" b="0" i="0">
                <a:solidFill>
                  <a:srgbClr val="2C4455"/>
                </a:solidFill>
                <a:latin typeface="微软雅黑"/>
              </a:rPr>
              <a:t>醒后卒中或发病时间不明者，若 DWI 已高信号而 FLAIR 尚未显示，提示发病大概率在 4.5 小时内 —— 这是 WAKE-UP 试验确立的静脉溶栓筛选依据，让原本被排除的患者获得再灌注机会。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36208" y="4407408"/>
            <a:ext cx="5394960" cy="1554480"/>
          </a:xfrm>
          <a:prstGeom prst="roundRect">
            <a:avLst>
              <a:gd name="adj" fmla="val 5500"/>
            </a:avLst>
          </a:prstGeom>
          <a:solidFill>
            <a:srgbClr val="FDE6E3"/>
          </a:solidFill>
          <a:ln w="9525">
            <a:solidFill>
              <a:srgbClr val="E85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36208" y="4407408"/>
            <a:ext cx="54864" cy="1554480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73952" y="4526280"/>
            <a:ext cx="4974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9B2C22"/>
                </a:solidFill>
                <a:latin typeface="微软雅黑"/>
              </a:rPr>
              <a:t>康复视角：DTI 与预后预测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73952" y="4818888"/>
            <a:ext cx="4974336" cy="1042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50" b="0" i="0">
                <a:solidFill>
                  <a:srgbClr val="2C4455"/>
                </a:solidFill>
                <a:latin typeface="微软雅黑"/>
              </a:rPr>
              <a:t>皮质脊髓束的 FA 值及其不对称指数，是上肢运动功能恢复的强预测因子。束受累越重，单纯促进技术效果越差，越应及早转向辅具、镜像疗法与脑机接口等替代路径。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638251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  <a:spcAft>
                <a:spcPts val="400"/>
              </a:spcAft>
            </a:pPr>
            <a:r>
              <a:rPr sz="850" b="0" i="1">
                <a:solidFill>
                  <a:srgbClr val="96A4AE"/>
                </a:solidFill>
                <a:latin typeface="微软雅黑"/>
              </a:rPr>
              <a:t>参考：WAKE-UP Trial (NEJM) / PREP2 预后预测算法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E7C7B"/>
                </a:solidFill>
                <a:latin typeface="微软雅黑"/>
              </a:rPr>
              <a:t>IMAGING · ICH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0A1E2E"/>
                </a:solidFill>
                <a:latin typeface="微软雅黑"/>
              </a:rPr>
              <a:t>脑出血：部位、分型与血肿扩大预测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457200"/>
            <a:ext cx="128016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15039" y="457200"/>
            <a:ext cx="128016" cy="128016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95044"/>
            <a:ext cx="118872" cy="11887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444752"/>
            <a:ext cx="5340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常见部位与病因倾向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5577840" cy="384048"/>
          </a:xfrm>
          <a:prstGeom prst="rect">
            <a:avLst/>
          </a:prstGeom>
          <a:solidFill>
            <a:srgbClr val="12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897379"/>
            <a:ext cx="1517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部位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14016" y="1897379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占比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1296" y="1897379"/>
            <a:ext cx="2523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特点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194560"/>
            <a:ext cx="55778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2281428"/>
            <a:ext cx="15179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基底节 / 丘脑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14016" y="2281428"/>
            <a:ext cx="877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50—60%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1296" y="2281428"/>
            <a:ext cx="25237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高血压性，豆纹动脉破裂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560320"/>
            <a:ext cx="5577840" cy="365760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2647188"/>
            <a:ext cx="15179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脑叶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14016" y="2647188"/>
            <a:ext cx="877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20—30%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1296" y="2647188"/>
            <a:ext cx="25237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老年需警惕淀粉样血管病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926080"/>
            <a:ext cx="55778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3012948"/>
            <a:ext cx="15179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小脑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14016" y="3012948"/>
            <a:ext cx="877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约 10%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11296" y="3012948"/>
            <a:ext cx="25237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&gt;3 cm 或脑干受压需急诊手术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291840"/>
            <a:ext cx="5577840" cy="365760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3378708"/>
            <a:ext cx="15179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脑桥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14016" y="3378708"/>
            <a:ext cx="877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约 5—10%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11296" y="3378708"/>
            <a:ext cx="25237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预后最差，常伴针尖样瞳孔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1810512"/>
            <a:ext cx="5577840" cy="1847088"/>
          </a:xfrm>
          <a:prstGeom prst="rect">
            <a:avLst/>
          </a:prstGeom>
          <a:noFill/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3762756"/>
            <a:ext cx="118872" cy="118872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3712464"/>
            <a:ext cx="5340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血肿扩大的影像预警征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059935"/>
            <a:ext cx="5486400" cy="8401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 b="1">
                <a:solidFill>
                  <a:srgbClr val="E85A4F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点征（Spot Sign）：</a:t>
            </a:r>
            <a:r>
              <a:rPr sz="1050">
                <a:solidFill>
                  <a:srgbClr val="5A6B78"/>
                </a:solidFill>
                <a:latin typeface="微软雅黑"/>
              </a:rPr>
              <a:t>CTA 源像血肿内点状强化，扩大风险最高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 b="1">
                <a:solidFill>
                  <a:srgbClr val="E85A4F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混杂密度征 / 黑洞征：</a:t>
            </a:r>
            <a:r>
              <a:rPr sz="1050">
                <a:solidFill>
                  <a:srgbClr val="5A6B78"/>
                </a:solidFill>
                <a:latin typeface="微软雅黑"/>
              </a:rPr>
              <a:t>平扫即可识别，提示活动性出血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 b="1">
                <a:solidFill>
                  <a:srgbClr val="E85A4F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岛征、卫星灶：</a:t>
            </a:r>
            <a:r>
              <a:rPr sz="1050">
                <a:solidFill>
                  <a:srgbClr val="5A6B78"/>
                </a:solidFill>
                <a:latin typeface="微软雅黑"/>
              </a:rPr>
              <a:t>血肿形态不规则，边界毛糙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27648" y="1444752"/>
            <a:ext cx="5294376" cy="2651760"/>
          </a:xfrm>
          <a:prstGeom prst="roundRect">
            <a:avLst>
              <a:gd name="adj" fmla="val 4000"/>
            </a:avLst>
          </a:prstGeom>
          <a:solidFill>
            <a:srgbClr val="ECF2F4"/>
          </a:solidFill>
          <a:ln w="12700">
            <a:solidFill>
              <a:srgbClr val="4FA8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73952" y="1591056"/>
            <a:ext cx="676656" cy="237744"/>
          </a:xfrm>
          <a:prstGeom prst="roundRect">
            <a:avLst>
              <a:gd name="adj" fmla="val 3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3952" y="1613916"/>
            <a:ext cx="6766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微软雅黑"/>
              </a:rPr>
              <a:t>影像图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01968" y="2532888"/>
            <a:ext cx="474573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2C4455"/>
                </a:solidFill>
                <a:latin typeface="微软雅黑"/>
              </a:rPr>
              <a:t>脑出血影像组图
各部位典型血肿 + 点征/黑洞征对照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3712464"/>
            <a:ext cx="47457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850" b="0" i="1">
                <a:solidFill>
                  <a:srgbClr val="4FA8A6"/>
                </a:solidFill>
                <a:latin typeface="微软雅黑"/>
              </a:rPr>
              <a:t>［ 此处置入图片 ］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27648" y="4279392"/>
            <a:ext cx="5294376" cy="1737360"/>
          </a:xfrm>
          <a:prstGeom prst="roundRect">
            <a:avLst>
              <a:gd name="adj" fmla="val 5500"/>
            </a:avLst>
          </a:prstGeom>
          <a:solidFill>
            <a:srgbClr val="D6ECEB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27648" y="4279392"/>
            <a:ext cx="54864" cy="173736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65392" y="4398264"/>
            <a:ext cx="48737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9B2C22"/>
                </a:solidFill>
                <a:latin typeface="微软雅黑"/>
              </a:rPr>
              <a:t>出血性卒中的康复时机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65392" y="4690872"/>
            <a:ext cx="4873752" cy="1225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00" b="0" i="0">
                <a:solidFill>
                  <a:srgbClr val="2C4455"/>
                </a:solidFill>
                <a:latin typeface="微软雅黑"/>
              </a:rPr>
              <a:t>不必机械等待「血肿吸收」。生命体征稳定、神经症状不再进展 24—48 h 后，即可开始床边良肢位摆放与被动活动。
关键监测：血压波动、颅高压征象、意识水平变化 —— 出现即暂停并复查影像。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38251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  <a:spcAft>
                <a:spcPts val="400"/>
              </a:spcAft>
            </a:pPr>
            <a:r>
              <a:rPr sz="850" b="0" i="1">
                <a:solidFill>
                  <a:srgbClr val="96A4AE"/>
                </a:solidFill>
                <a:latin typeface="微软雅黑"/>
              </a:rPr>
              <a:t>参考：中国脑出血诊治指南 2019 / INTERACT 系列研究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0312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600" b="1" i="0">
                <a:solidFill>
                  <a:srgbClr val="4FA8A6"/>
                </a:solidFill>
                <a:latin typeface="微软雅黑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3145536"/>
            <a:ext cx="731520" cy="45720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438144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3100" b="1" i="0">
                <a:solidFill>
                  <a:srgbClr val="FFFFFF"/>
                </a:solidFill>
                <a:latin typeface="微软雅黑"/>
              </a:rPr>
              <a:t>运动控制的
神经机制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98848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400"/>
              </a:spcAft>
            </a:pPr>
            <a:r>
              <a:rPr sz="1200" b="0" i="0">
                <a:solidFill>
                  <a:srgbClr val="9FB8C4"/>
                </a:solidFill>
                <a:latin typeface="微软雅黑"/>
              </a:rPr>
              <a:t>理解为什么会瘫、为什么会痉挛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231136"/>
            <a:ext cx="109728" cy="109728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3969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 i="0">
                <a:solidFill>
                  <a:srgbClr val="D6E4EB"/>
                </a:solidFill>
                <a:latin typeface="微软雅黑"/>
              </a:rPr>
              <a:t>上下运动神经元的鉴别要点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834640"/>
            <a:ext cx="109728" cy="109728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7432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 i="0">
                <a:solidFill>
                  <a:srgbClr val="D6E4EB"/>
                </a:solidFill>
                <a:latin typeface="微软雅黑"/>
              </a:rPr>
              <a:t>锥体系：皮质脊髓束的走行与交叉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438144"/>
            <a:ext cx="109728" cy="109728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346704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 i="0">
                <a:solidFill>
                  <a:srgbClr val="D6E4EB"/>
                </a:solidFill>
                <a:latin typeface="微软雅黑"/>
              </a:rPr>
              <a:t>锥体外系与基底节环路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4041648"/>
            <a:ext cx="109728" cy="109728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95020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 i="0">
                <a:solidFill>
                  <a:srgbClr val="D6E4EB"/>
                </a:solidFill>
                <a:latin typeface="微软雅黑"/>
              </a:rPr>
              <a:t>小脑的三个功能分区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4645152"/>
            <a:ext cx="109728" cy="109728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455371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 i="0">
                <a:solidFill>
                  <a:srgbClr val="D6E4EB"/>
                </a:solidFill>
                <a:latin typeface="微软雅黑"/>
              </a:rPr>
              <a:t>脊髓休克与痉挛的形成机制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E7C7B"/>
                </a:solidFill>
                <a:latin typeface="微软雅黑"/>
              </a:rPr>
              <a:t>MOTOR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0A1E2E"/>
                </a:solidFill>
                <a:latin typeface="微软雅黑"/>
              </a:rPr>
              <a:t>上运动神经元 vs 下运动神经元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457200"/>
            <a:ext cx="128016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15039" y="457200"/>
            <a:ext cx="128016" cy="128016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6766560" cy="402336"/>
          </a:xfrm>
          <a:prstGeom prst="rect">
            <a:avLst/>
          </a:prstGeom>
          <a:solidFill>
            <a:srgbClr val="12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577340"/>
            <a:ext cx="1243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微软雅黑"/>
              </a:rPr>
              <a:t>鉴别项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39696" y="1577340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微软雅黑"/>
              </a:rPr>
              <a:t>上运动神经元损伤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1577340"/>
            <a:ext cx="2706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微软雅黑"/>
              </a:rPr>
              <a:t>下运动神经元损伤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83664"/>
            <a:ext cx="676656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1970532"/>
            <a:ext cx="12435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肌张力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9696" y="1970532"/>
            <a:ext cx="21579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增高（折刀样）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1970532"/>
            <a:ext cx="2706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降低（弛缓）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249424"/>
            <a:ext cx="6766560" cy="365760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336292"/>
            <a:ext cx="12435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腱反射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39696" y="2336292"/>
            <a:ext cx="21579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亢进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2336292"/>
            <a:ext cx="2706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减弱或消失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615184"/>
            <a:ext cx="676656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2702052"/>
            <a:ext cx="12435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病理反射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39696" y="2702052"/>
            <a:ext cx="21579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阳性（Babinski 等）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2702052"/>
            <a:ext cx="2706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阴性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980944"/>
            <a:ext cx="6766560" cy="365760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3067812"/>
            <a:ext cx="12435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肌萎缩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39696" y="3067812"/>
            <a:ext cx="21579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晚期废用性，轻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7136" y="3067812"/>
            <a:ext cx="2706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早期显著，神经源性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346704"/>
            <a:ext cx="676656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3433572"/>
            <a:ext cx="12435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肌束震颤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39696" y="3433572"/>
            <a:ext cx="21579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17136" y="3433572"/>
            <a:ext cx="2706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常见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712464"/>
            <a:ext cx="6766560" cy="365760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3799332"/>
            <a:ext cx="12435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肌电图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39696" y="3799332"/>
            <a:ext cx="21579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无失神经电位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17136" y="3799332"/>
            <a:ext cx="2706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纤颤电位、正锐波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4078224"/>
            <a:ext cx="676656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" y="4165092"/>
            <a:ext cx="12435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瘫痪范围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39696" y="4165092"/>
            <a:ext cx="21579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整体性（偏瘫、截瘫）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17136" y="4165092"/>
            <a:ext cx="2706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节段性/单神经分布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1481328"/>
            <a:ext cx="6766560" cy="2962656"/>
          </a:xfrm>
          <a:prstGeom prst="rect">
            <a:avLst/>
          </a:prstGeom>
          <a:noFill/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66928" y="4498848"/>
            <a:ext cx="6766560" cy="1426464"/>
          </a:xfrm>
          <a:prstGeom prst="roundRect">
            <a:avLst>
              <a:gd name="adj" fmla="val 5500"/>
            </a:avLst>
          </a:prstGeom>
          <a:solidFill>
            <a:srgbClr val="FDE6E3"/>
          </a:solidFill>
          <a:ln w="9525">
            <a:solidFill>
              <a:srgbClr val="E85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6928" y="4498848"/>
            <a:ext cx="54864" cy="1426464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" y="4617720"/>
            <a:ext cx="63459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9B2C22"/>
                </a:solidFill>
                <a:latin typeface="微软雅黑"/>
              </a:rPr>
              <a:t>临床陷阱：急性期的假象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" y="4910328"/>
            <a:ext cx="634593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50" b="0" i="0">
                <a:solidFill>
                  <a:srgbClr val="2C4455"/>
                </a:solidFill>
                <a:latin typeface="微软雅黑"/>
              </a:rPr>
              <a:t>卒中超急性期（数小时至数天）可表现为肌张力低下、腱反射消失 —— 即「脑休克」，极易被误判为下运动神经元损伤。
此时 Babinski 征常已阳性，是重要鉴别线索；康复计划应按 UMN 损伤预判痉挛的到来，提前进行体位管理。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24927" y="1481328"/>
            <a:ext cx="4197096" cy="4443984"/>
          </a:xfrm>
          <a:prstGeom prst="roundRect">
            <a:avLst>
              <a:gd name="adj" fmla="val 4000"/>
            </a:avLst>
          </a:prstGeom>
          <a:solidFill>
            <a:srgbClr val="ECF2F4"/>
          </a:solidFill>
          <a:ln w="12700">
            <a:solidFill>
              <a:srgbClr val="4FA8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571231" y="1627632"/>
            <a:ext cx="676656" cy="237744"/>
          </a:xfrm>
          <a:prstGeom prst="roundRect">
            <a:avLst>
              <a:gd name="adj" fmla="val 3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71231" y="1650492"/>
            <a:ext cx="6766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微软雅黑"/>
              </a:rPr>
              <a:t>通路图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99248" y="3465576"/>
            <a:ext cx="364845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2C4455"/>
                </a:solidFill>
                <a:latin typeface="微软雅黑"/>
              </a:rPr>
              <a:t>运动通路全景图
皮层 → 内囊 → 大脑脚 → 锥体交叉
→ 皮质脊髓侧束 → 前角细胞 → 肌肉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9248" y="5541264"/>
            <a:ext cx="3648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850" b="0" i="1">
                <a:solidFill>
                  <a:srgbClr val="4FA8A6"/>
                </a:solidFill>
                <a:latin typeface="微软雅黑"/>
              </a:rPr>
              <a:t>［ 此处置入图片 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638251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  <a:spcAft>
                <a:spcPts val="400"/>
              </a:spcAft>
            </a:pPr>
            <a:r>
              <a:rPr sz="850" b="0" i="1">
                <a:solidFill>
                  <a:srgbClr val="96A4AE"/>
                </a:solidFill>
                <a:latin typeface="微软雅黑"/>
              </a:rPr>
              <a:t>偏瘫本质是 UMN 综合征：阴性症状（无力）+ 阳性症状（痉挛）并存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E7C7B"/>
                </a:solidFill>
                <a:latin typeface="微软雅黑"/>
              </a:rPr>
              <a:t>MOTOR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0A1E2E"/>
                </a:solidFill>
                <a:latin typeface="微软雅黑"/>
              </a:rPr>
              <a:t>锥体系、锥体外系与小脑：三套系统协同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457200"/>
            <a:ext cx="128016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15039" y="457200"/>
            <a:ext cx="128016" cy="128016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95044"/>
            <a:ext cx="118872" cy="11887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444752"/>
            <a:ext cx="3328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锥体系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755648"/>
            <a:ext cx="3383280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400"/>
              </a:spcAft>
            </a:pPr>
            <a:r>
              <a:rPr sz="1050" b="0" i="0">
                <a:solidFill>
                  <a:srgbClr val="5A6B78"/>
                </a:solidFill>
                <a:latin typeface="微软雅黑"/>
              </a:rPr>
              <a:t>起自中央前回 Betz 细胞及运动前区，经放射冠汇入内囊后肢，下行至延髓锥体，约 75—90% 纤维交叉至对侧形成皮质脊髓侧束。
功能：随意、精细、分离运动 —— 尤其手指独立运动。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4528" y="1495044"/>
            <a:ext cx="118872" cy="118872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1444752"/>
            <a:ext cx="3328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锥体外系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1755648"/>
            <a:ext cx="3383280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400"/>
              </a:spcAft>
            </a:pPr>
            <a:r>
              <a:rPr sz="1050" b="0" i="0">
                <a:solidFill>
                  <a:srgbClr val="5A6B78"/>
                </a:solidFill>
                <a:latin typeface="微软雅黑"/>
              </a:rPr>
              <a:t>以基底节（尾状核、壳核、苍白球）为核心，经直接通路易化、间接通路抑制，与黑质、丘脑底核构成环路。
功能：肌张力调节、姿势维持、联合运动与运动起始。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5008" y="1495044"/>
            <a:ext cx="118872" cy="118872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444752"/>
            <a:ext cx="3328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小 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1755648"/>
            <a:ext cx="3383280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400"/>
              </a:spcAft>
            </a:pPr>
            <a:r>
              <a:rPr sz="1050" b="0" i="0">
                <a:solidFill>
                  <a:srgbClr val="5A6B78"/>
                </a:solidFill>
                <a:latin typeface="微软雅黑"/>
              </a:rPr>
              <a:t>前庭小脑管平衡与眼动；脊髓小脑管肌张力与步态；大脑小脑管运动计划与协调。
特点：同侧支配 —— 一侧小脑损伤致同侧共济失调。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364992"/>
            <a:ext cx="5577840" cy="2615184"/>
          </a:xfrm>
          <a:prstGeom prst="roundRect">
            <a:avLst>
              <a:gd name="adj" fmla="val 4000"/>
            </a:avLst>
          </a:prstGeom>
          <a:solidFill>
            <a:srgbClr val="ECF2F4"/>
          </a:solidFill>
          <a:ln w="12700">
            <a:solidFill>
              <a:srgbClr val="4FA8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3232" y="3511296"/>
            <a:ext cx="676656" cy="237744"/>
          </a:xfrm>
          <a:prstGeom prst="roundRect">
            <a:avLst>
              <a:gd name="adj" fmla="val 3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534156"/>
            <a:ext cx="6766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微软雅黑"/>
              </a:rPr>
              <a:t>机制图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43484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2C4455"/>
                </a:solidFill>
                <a:latin typeface="微软雅黑"/>
              </a:rPr>
              <a:t>三系统协同示意图
（皮层-基底节-丘脑环路 + 小脑前馈校正回路）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5596128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850" b="0" i="1">
                <a:solidFill>
                  <a:srgbClr val="4FA8A6"/>
                </a:solidFill>
                <a:latin typeface="微软雅黑"/>
              </a:rPr>
              <a:t>［ 此处置入图片 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27648" y="3415284"/>
            <a:ext cx="118872" cy="11887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3364992"/>
            <a:ext cx="5056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损伤表现对照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27648" y="3712464"/>
            <a:ext cx="5294376" cy="384048"/>
          </a:xfrm>
          <a:prstGeom prst="rect">
            <a:avLst/>
          </a:prstGeom>
          <a:solidFill>
            <a:srgbClr val="12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3799332"/>
            <a:ext cx="11497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系统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06611" y="3799332"/>
            <a:ext cx="37056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典型损伤表现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27648" y="4096512"/>
            <a:ext cx="5294376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7376" y="4238244"/>
            <a:ext cx="11497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锥体系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06611" y="4238244"/>
            <a:ext cx="37056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痉挛性瘫、病理征阳性、精细动作丧失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27648" y="4572000"/>
            <a:ext cx="5294376" cy="475488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37376" y="4713731"/>
            <a:ext cx="11497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锥体外系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06611" y="4713731"/>
            <a:ext cx="37056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肌张力异常、不自主运动、运动减少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27648" y="5047488"/>
            <a:ext cx="5294376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37376" y="5189220"/>
            <a:ext cx="11497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小脑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06611" y="5189220"/>
            <a:ext cx="37056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共济失调、意向性震颤、轮替障碍、构音障碍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27648" y="3712464"/>
            <a:ext cx="5294376" cy="1810512"/>
          </a:xfrm>
          <a:prstGeom prst="rect">
            <a:avLst/>
          </a:prstGeom>
          <a:noFill/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638251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  <a:spcAft>
                <a:spcPts val="400"/>
              </a:spcAft>
            </a:pPr>
            <a:r>
              <a:rPr sz="850" b="0" i="1">
                <a:solidFill>
                  <a:srgbClr val="96A4AE"/>
                </a:solidFill>
                <a:latin typeface="微软雅黑"/>
              </a:rPr>
              <a:t>卒中常同时累及多系统，评定时需分辨主导因素以选择训练策略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E7C7B"/>
                </a:solidFill>
                <a:latin typeface="微软雅黑"/>
              </a:rPr>
              <a:t>SPASTICITY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0A1E2E"/>
                </a:solidFill>
                <a:latin typeface="微软雅黑"/>
              </a:rPr>
              <a:t>痉挛是怎样形成的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457200"/>
            <a:ext cx="128016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15039" y="457200"/>
            <a:ext cx="128016" cy="128016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26464"/>
            <a:ext cx="5669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2C4455"/>
                </a:solidFill>
                <a:latin typeface="微软雅黑"/>
              </a:rPr>
              <a:t>痉挛：以速度依赖性牵张反射亢进为特征的运动障碍，是上运动神经元综合征的阳性症状。（Lance 定义）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566928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372868"/>
            <a:ext cx="228600" cy="2286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68296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40280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2C4455"/>
                </a:solidFill>
                <a:latin typeface="微软雅黑"/>
              </a:rPr>
              <a:t>皮层下行抑制丧失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50592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网状脊髓束、前庭脊髓束失去皮层调控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" y="2816352"/>
            <a:ext cx="27432" cy="146304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2962656"/>
            <a:ext cx="566928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77540"/>
            <a:ext cx="228600" cy="2286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17296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044952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2C4455"/>
                </a:solidFill>
                <a:latin typeface="微软雅黑"/>
              </a:rPr>
              <a:t>脊髓中间神经元失衡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255264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Ia 抑制、交互抑制减弱，突触前抑制下降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" y="3621024"/>
            <a:ext cx="27432" cy="146304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6928" y="3767328"/>
            <a:ext cx="566928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3982212"/>
            <a:ext cx="228600" cy="2286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97764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849624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2C4455"/>
                </a:solidFill>
                <a:latin typeface="微软雅黑"/>
              </a:rPr>
              <a:t>α-γ 环路过度兴奋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059936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肌梭敏感性升高，牵张反射阈值下降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100" y="4425696"/>
            <a:ext cx="27432" cy="146304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66928" y="4572000"/>
            <a:ext cx="566928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" y="4786884"/>
            <a:ext cx="228600" cy="2286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782312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654296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2C4455"/>
                </a:solidFill>
                <a:latin typeface="微软雅黑"/>
              </a:rPr>
              <a:t>肌肉本身改变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864608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肌纤维类型转化、胶原沉积，形成挛缩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27648" y="1426464"/>
            <a:ext cx="5294376" cy="1700784"/>
          </a:xfrm>
          <a:prstGeom prst="roundRect">
            <a:avLst>
              <a:gd name="adj" fmla="val 5500"/>
            </a:avLst>
          </a:prstGeom>
          <a:solidFill>
            <a:srgbClr val="D6ECEB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27648" y="1426464"/>
            <a:ext cx="54864" cy="17007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5392" y="1545336"/>
            <a:ext cx="48737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9B2C22"/>
                </a:solidFill>
                <a:latin typeface="微软雅黑"/>
              </a:rPr>
              <a:t>为什么痉挛不能一味「降张力」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5392" y="1837944"/>
            <a:ext cx="487375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50" b="0" i="0">
                <a:solidFill>
                  <a:srgbClr val="2C4455"/>
                </a:solidFill>
                <a:latin typeface="微软雅黑"/>
              </a:rPr>
              <a:t>痉挛在部分患者是功能的一部分 —— 下肢伸肌张力可支撑站立与转移。
盲目降张力可能导致患者失去唯一的支撑能力。
决策依据：该张力是妨碍功能，还是被患者用作功能？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27648" y="3415284"/>
            <a:ext cx="118872" cy="118872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65392" y="3364992"/>
            <a:ext cx="5056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加重痉挛的可逆诱因（务必先排查）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3712464"/>
            <a:ext cx="5120640" cy="15887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 b="1">
                <a:solidFill>
                  <a:srgbClr val="E85A4F"/>
                </a:solidFill>
                <a:latin typeface="微软雅黑"/>
              </a:rPr>
              <a:t>▪  </a:t>
            </a:r>
            <a:r>
              <a:rPr sz="1050">
                <a:solidFill>
                  <a:srgbClr val="5A6B78"/>
                </a:solidFill>
                <a:latin typeface="微软雅黑"/>
              </a:rPr>
              <a:t>尿潴留、尿路感染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 b="1">
                <a:solidFill>
                  <a:srgbClr val="E85A4F"/>
                </a:solidFill>
                <a:latin typeface="微软雅黑"/>
              </a:rPr>
              <a:t>▪  </a:t>
            </a:r>
            <a:r>
              <a:rPr sz="1050">
                <a:solidFill>
                  <a:srgbClr val="5A6B78"/>
                </a:solidFill>
                <a:latin typeface="微软雅黑"/>
              </a:rPr>
              <a:t>便秘、粪嵌塞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 b="1">
                <a:solidFill>
                  <a:srgbClr val="E85A4F"/>
                </a:solidFill>
                <a:latin typeface="微软雅黑"/>
              </a:rPr>
              <a:t>▪  </a:t>
            </a:r>
            <a:r>
              <a:rPr sz="1050">
                <a:solidFill>
                  <a:srgbClr val="5A6B78"/>
                </a:solidFill>
                <a:latin typeface="微软雅黑"/>
              </a:rPr>
              <a:t>压疮、嵌甲、深静脉血栓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 b="1">
                <a:solidFill>
                  <a:srgbClr val="E85A4F"/>
                </a:solidFill>
                <a:latin typeface="微软雅黑"/>
              </a:rPr>
              <a:t>▪  </a:t>
            </a:r>
            <a:r>
              <a:rPr sz="1050">
                <a:solidFill>
                  <a:srgbClr val="5A6B78"/>
                </a:solidFill>
                <a:latin typeface="微软雅黑"/>
              </a:rPr>
              <a:t>疼痛、异位骨化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 b="1">
                <a:solidFill>
                  <a:srgbClr val="E85A4F"/>
                </a:solidFill>
                <a:latin typeface="微软雅黑"/>
              </a:rPr>
              <a:t>▪  </a:t>
            </a:r>
            <a:r>
              <a:rPr sz="1050">
                <a:solidFill>
                  <a:srgbClr val="5A6B78"/>
                </a:solidFill>
                <a:latin typeface="微软雅黑"/>
              </a:rPr>
              <a:t>衣裤过紧、体位不良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 b="1">
                <a:solidFill>
                  <a:srgbClr val="E85A4F"/>
                </a:solidFill>
                <a:latin typeface="微软雅黑"/>
              </a:rPr>
              <a:t>▪  </a:t>
            </a:r>
            <a:r>
              <a:rPr sz="1050">
                <a:solidFill>
                  <a:srgbClr val="5A6B78"/>
                </a:solidFill>
                <a:latin typeface="微软雅黑"/>
              </a:rPr>
              <a:t>情绪紧张、寒冷刺激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38251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  <a:spcAft>
                <a:spcPts val="400"/>
              </a:spcAft>
            </a:pPr>
            <a:r>
              <a:rPr sz="850" b="0" i="1">
                <a:solidFill>
                  <a:srgbClr val="96A4AE"/>
                </a:solidFill>
                <a:latin typeface="微软雅黑"/>
              </a:rPr>
              <a:t>临床铁律：痉挛突然加重，先找诱因，再谈用药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0312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600" b="1" i="0">
                <a:solidFill>
                  <a:srgbClr val="4FA8A6"/>
                </a:solidFill>
                <a:latin typeface="微软雅黑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3145536"/>
            <a:ext cx="731520" cy="45720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438144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3100" b="1" i="0">
                <a:solidFill>
                  <a:srgbClr val="FFFFFF"/>
                </a:solidFill>
                <a:latin typeface="微软雅黑"/>
              </a:rPr>
              <a:t>康复评定
体系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98848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400"/>
              </a:spcAft>
            </a:pPr>
            <a:r>
              <a:rPr sz="1200" b="0" i="0">
                <a:solidFill>
                  <a:srgbClr val="9FB8C4"/>
                </a:solidFill>
                <a:latin typeface="微软雅黑"/>
              </a:rPr>
              <a:t>评定不是填表——是治疗决策的依据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231136"/>
            <a:ext cx="109728" cy="109728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3969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 i="0">
                <a:solidFill>
                  <a:srgbClr val="D6E4EB"/>
                </a:solidFill>
                <a:latin typeface="微软雅黑"/>
              </a:rPr>
              <a:t>Brunnstrom 六期与 Fugl-Meyer 量化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834640"/>
            <a:ext cx="109728" cy="109728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7432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 i="0">
                <a:solidFill>
                  <a:srgbClr val="D6E4EB"/>
                </a:solidFill>
                <a:latin typeface="微软雅黑"/>
              </a:rPr>
              <a:t>改良 Ashworth 与痉挛的多维评估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438144"/>
            <a:ext cx="109728" cy="109728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346704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 i="0">
                <a:solidFill>
                  <a:srgbClr val="D6E4EB"/>
                </a:solidFill>
                <a:latin typeface="微软雅黑"/>
              </a:rPr>
              <a:t>感觉、平衡、步态的分层检查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4041648"/>
            <a:ext cx="109728" cy="109728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95020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 i="0">
                <a:solidFill>
                  <a:srgbClr val="D6E4EB"/>
                </a:solidFill>
                <a:latin typeface="微软雅黑"/>
              </a:rPr>
              <a:t>失语症分类与吞咽障碍筛查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4645152"/>
            <a:ext cx="109728" cy="109728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455371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 i="0">
                <a:solidFill>
                  <a:srgbClr val="D6E4EB"/>
                </a:solidFill>
                <a:latin typeface="微软雅黑"/>
              </a:rPr>
              <a:t>认知、情绪与 ADL 的整合评定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E7C7B"/>
                </a:solidFill>
                <a:latin typeface="微软雅黑"/>
              </a:rPr>
              <a:t>ASSESSMENT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0A1E2E"/>
                </a:solidFill>
                <a:latin typeface="微软雅黑"/>
              </a:rPr>
              <a:t>评定框架：从损伤到参与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457200"/>
            <a:ext cx="128016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15039" y="457200"/>
            <a:ext cx="128016" cy="128016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26464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50" b="0" i="0">
                <a:solidFill>
                  <a:srgbClr val="2C4455"/>
                </a:solidFill>
                <a:latin typeface="微软雅黑"/>
              </a:rPr>
              <a:t>以 ICF 模型组织评定 —— 不止关注「肌力几级」，更要回答「他能不能自己上厕所」「能不能回到原来的生活」。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048256"/>
            <a:ext cx="3478682" cy="8595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76656" y="2359152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2359152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048256"/>
            <a:ext cx="294833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1" i="0">
                <a:solidFill>
                  <a:srgbClr val="2C4455"/>
                </a:solidFill>
                <a:latin typeface="微软雅黑"/>
              </a:rPr>
              <a:t>身体结构与功能
肌力·张力·感觉·平衡</a:t>
            </a:r>
          </a:p>
        </p:txBody>
      </p:sp>
      <p:sp>
        <p:nvSpPr>
          <p:cNvPr id="12" name="Isosceles Triangle 11"/>
          <p:cNvSpPr/>
          <p:nvPr/>
        </p:nvSpPr>
        <p:spPr>
          <a:xfrm rot="5400000">
            <a:off x="4123334" y="2400300"/>
            <a:ext cx="155448" cy="155448"/>
          </a:xfrm>
          <a:prstGeom prst="triangl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56506" y="2048256"/>
            <a:ext cx="3478682" cy="8595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66234" y="2359152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6234" y="2359152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7130" y="2048256"/>
            <a:ext cx="294833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1" i="0">
                <a:solidFill>
                  <a:srgbClr val="2C4455"/>
                </a:solidFill>
                <a:latin typeface="微软雅黑"/>
              </a:rPr>
              <a:t>活动
ADL·转移·步行·进食</a:t>
            </a:r>
          </a:p>
        </p:txBody>
      </p:sp>
      <p:sp>
        <p:nvSpPr>
          <p:cNvPr id="17" name="Isosceles Triangle 16"/>
          <p:cNvSpPr/>
          <p:nvPr/>
        </p:nvSpPr>
        <p:spPr>
          <a:xfrm rot="5400000">
            <a:off x="7912912" y="2400300"/>
            <a:ext cx="155448" cy="155448"/>
          </a:xfrm>
          <a:prstGeom prst="triangl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46084" y="2048256"/>
            <a:ext cx="3478682" cy="8595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55812" y="2359152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5812" y="2359152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66708" y="2048256"/>
            <a:ext cx="294833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1" i="0">
                <a:solidFill>
                  <a:srgbClr val="2C4455"/>
                </a:solidFill>
                <a:latin typeface="微软雅黑"/>
              </a:rPr>
              <a:t>参与
家庭角色·重返工作·社交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268980"/>
            <a:ext cx="118872" cy="11887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218688"/>
            <a:ext cx="5340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评定的三个时间节点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566160"/>
            <a:ext cx="5577840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3762756"/>
            <a:ext cx="228600" cy="2286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758184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648456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2C4455"/>
                </a:solidFill>
                <a:latin typeface="微软雅黑"/>
              </a:rPr>
              <a:t>入院 48 小时内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858768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初评：确定基线、筛查风险、设定短期目标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" y="4187952"/>
            <a:ext cx="27432" cy="146304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66928" y="4334256"/>
            <a:ext cx="5577840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5800" y="4530852"/>
            <a:ext cx="228600" cy="2286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52628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416552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2C4455"/>
                </a:solidFill>
                <a:latin typeface="微软雅黑"/>
              </a:rPr>
              <a:t>每 1—2 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4626864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中期复评：验证疗效、调整方案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100" y="4956048"/>
            <a:ext cx="27432" cy="146304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66928" y="5102352"/>
            <a:ext cx="5577840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85800" y="5298948"/>
            <a:ext cx="228600" cy="2286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294376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184648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2C4455"/>
                </a:solidFill>
                <a:latin typeface="微软雅黑"/>
              </a:rPr>
              <a:t>出院前 / 随访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394960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终末评定：转归判断、家庭指导、社区衔接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27648" y="3218688"/>
            <a:ext cx="5294376" cy="2212848"/>
          </a:xfrm>
          <a:prstGeom prst="roundRect">
            <a:avLst>
              <a:gd name="adj" fmla="val 5500"/>
            </a:avLst>
          </a:prstGeom>
          <a:solidFill>
            <a:srgbClr val="D6ECEB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27648" y="3218688"/>
            <a:ext cx="54864" cy="221284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65392" y="3337560"/>
            <a:ext cx="48737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9B2C22"/>
                </a:solidFill>
                <a:latin typeface="微软雅黑"/>
              </a:rPr>
              <a:t>评定质量的三条底线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65392" y="3630168"/>
            <a:ext cx="4873752" cy="1700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50" b="0" i="0">
                <a:solidFill>
                  <a:srgbClr val="2C4455"/>
                </a:solidFill>
                <a:latin typeface="微软雅黑"/>
              </a:rPr>
              <a:t>① 标准化：同一患者、同一量表、同一评定者优先，减少测量误差
② 功能导向：量表分数须能翻译成具体的训练处方
③ 患者参与：目标由医患共同设定（SMART 原则），而非单方面下达 —— 这直接影响训练依从性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638251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  <a:spcAft>
                <a:spcPts val="400"/>
              </a:spcAft>
            </a:pPr>
            <a:r>
              <a:rPr sz="850" b="0" i="1">
                <a:solidFill>
                  <a:srgbClr val="96A4AE"/>
                </a:solidFill>
                <a:latin typeface="微软雅黑"/>
              </a:rPr>
              <a:t>参考：ICF 国际功能、残疾和健康分类框架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E7C7B"/>
                </a:solidFill>
                <a:latin typeface="微软雅黑"/>
              </a:rPr>
              <a:t>MOTOR · BRUNNSTROM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0A1E2E"/>
                </a:solidFill>
                <a:latin typeface="微软雅黑"/>
              </a:rPr>
              <a:t>Brunnstrom 六阶段：恢复的自然规律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457200"/>
            <a:ext cx="128016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15039" y="457200"/>
            <a:ext cx="128016" cy="128016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11057839" cy="402336"/>
          </a:xfrm>
          <a:prstGeom prst="rect">
            <a:avLst/>
          </a:prstGeom>
          <a:solidFill>
            <a:srgbClr val="12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577340"/>
            <a:ext cx="6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微软雅黑"/>
              </a:rPr>
              <a:t>分期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90527" y="1577340"/>
            <a:ext cx="124273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微软雅黑"/>
              </a:rPr>
              <a:t>名称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52720" y="1577340"/>
            <a:ext cx="41671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微软雅黑"/>
              </a:rPr>
              <a:t>运动特征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301" y="1577340"/>
            <a:ext cx="407573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微软雅黑"/>
              </a:rPr>
              <a:t>康复重点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1057839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007107"/>
            <a:ext cx="6944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Ⅰ 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0527" y="2007107"/>
            <a:ext cx="124273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弛缓期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2720" y="2007107"/>
            <a:ext cx="41671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无任何随意运动，腱反射消失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39301" y="2007107"/>
            <a:ext cx="407573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良肢位、被动活动、感觉刺激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322576"/>
            <a:ext cx="11057839" cy="438912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2446020"/>
            <a:ext cx="6944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Ⅱ 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90527" y="2446020"/>
            <a:ext cx="124273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痉挛出现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2720" y="2446020"/>
            <a:ext cx="41671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出现联合反应、共同运动雏形，张力开始升高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9301" y="2446020"/>
            <a:ext cx="407573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抑制异常模式、体位管理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761488"/>
            <a:ext cx="11057839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4932"/>
            <a:ext cx="6944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Ⅲ 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0527" y="2884932"/>
            <a:ext cx="124273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共同运动期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52720" y="2884932"/>
            <a:ext cx="41671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可随意引发共同运动，痉挛达高峰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9301" y="2884932"/>
            <a:ext cx="407573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打破共同运动、引导分离动作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200400"/>
            <a:ext cx="11057839" cy="438912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3323844"/>
            <a:ext cx="6944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Ⅳ 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90527" y="3323844"/>
            <a:ext cx="124273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部分分离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52720" y="3323844"/>
            <a:ext cx="41671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痉挛减弱，出现脱离共同运动的动作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39301" y="3323844"/>
            <a:ext cx="407573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强化分离运动、引入精细活动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639312"/>
            <a:ext cx="11057839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" y="3762755"/>
            <a:ext cx="6944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Ⅴ 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90527" y="3762755"/>
            <a:ext cx="124273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分离运动期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52720" y="3762755"/>
            <a:ext cx="41671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可完成较复杂的分离运动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39301" y="3762755"/>
            <a:ext cx="407573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速度、协调与任务导向训练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4078224"/>
            <a:ext cx="11057839" cy="438912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" y="4201668"/>
            <a:ext cx="6944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Ⅵ 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90527" y="4201668"/>
            <a:ext cx="124273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接近正常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52720" y="4201668"/>
            <a:ext cx="41671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协调接近正常，仅速度稍慢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39301" y="4201668"/>
            <a:ext cx="407573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精细动作、耐力与实用性训练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1481328"/>
            <a:ext cx="11057839" cy="3035808"/>
          </a:xfrm>
          <a:prstGeom prst="rect">
            <a:avLst/>
          </a:prstGeom>
          <a:noFill/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66928" y="4608576"/>
            <a:ext cx="5669280" cy="1371600"/>
          </a:xfrm>
          <a:prstGeom prst="roundRect">
            <a:avLst>
              <a:gd name="adj" fmla="val 5500"/>
            </a:avLst>
          </a:prstGeom>
          <a:solidFill>
            <a:srgbClr val="FDE6E3"/>
          </a:solidFill>
          <a:ln w="9525">
            <a:solidFill>
              <a:srgbClr val="E85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4608576"/>
            <a:ext cx="54864" cy="1371600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" y="4727448"/>
            <a:ext cx="52486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9B2C22"/>
                </a:solidFill>
                <a:latin typeface="微软雅黑"/>
              </a:rPr>
              <a:t>典型共同运动模式（务必熟记）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" y="5020056"/>
            <a:ext cx="5248656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00" b="0" i="0">
                <a:solidFill>
                  <a:srgbClr val="2C4455"/>
                </a:solidFill>
                <a:latin typeface="微软雅黑"/>
              </a:rPr>
              <a:t>上肢屈肌模式：肩胛后缩上提 · 肩外展外旋 · 肘屈 · 前臂旋后 · 腕指屈
下肢伸肌模式：髋伸内收内旋 · 膝伸 · 踝跖屈内翻 · 足趾屈
这正是「挎篮画圈」步态的解剖学来源。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36208" y="4608576"/>
            <a:ext cx="5394960" cy="1371600"/>
          </a:xfrm>
          <a:prstGeom prst="roundRect">
            <a:avLst>
              <a:gd name="adj" fmla="val 5500"/>
            </a:avLst>
          </a:prstGeom>
          <a:solidFill>
            <a:srgbClr val="D6ECEB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36208" y="4608576"/>
            <a:ext cx="54864" cy="13716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73952" y="4727448"/>
            <a:ext cx="4974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9B2C22"/>
                </a:solidFill>
                <a:latin typeface="微软雅黑"/>
              </a:rPr>
              <a:t>分期的现代局限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73952" y="5020056"/>
            <a:ext cx="4974336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00" b="0" i="0">
                <a:solidFill>
                  <a:srgbClr val="2C4455"/>
                </a:solidFill>
                <a:latin typeface="微软雅黑"/>
              </a:rPr>
              <a:t>Brunnstrom 描述的是自然恢复规律，但并非所有患者线性推进 —— 约 30% 长期停滞于Ⅲ期。
现代观点：不应被动「等待分期推进」，而应用强制诱导、任务导向训练主动驱动可塑性。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638251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  <a:spcAft>
                <a:spcPts val="400"/>
              </a:spcAft>
            </a:pPr>
            <a:r>
              <a:rPr sz="850" b="0" i="1">
                <a:solidFill>
                  <a:srgbClr val="96A4AE"/>
                </a:solidFill>
                <a:latin typeface="微软雅黑"/>
              </a:rPr>
              <a:t>上肢、手、下肢需分别评定，三者恢复速度常不同步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E7C7B"/>
                </a:solidFill>
                <a:latin typeface="微软雅黑"/>
              </a:rPr>
              <a:t>MOTOR · FMA / SPASTICITY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0A1E2E"/>
                </a:solidFill>
                <a:latin typeface="微软雅黑"/>
              </a:rPr>
              <a:t>Fugl-Meyer 与痉挛评定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457200"/>
            <a:ext cx="128016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15039" y="457200"/>
            <a:ext cx="128016" cy="128016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95044"/>
            <a:ext cx="118872" cy="11887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444752"/>
            <a:ext cx="5340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Fugl-Meyer 运动功能评定（FMA）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5577840" cy="384048"/>
          </a:xfrm>
          <a:prstGeom prst="rect">
            <a:avLst/>
          </a:prstGeom>
          <a:solidFill>
            <a:srgbClr val="12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897379"/>
            <a:ext cx="786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部位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82496" y="1897379"/>
            <a:ext cx="786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满分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8336" y="1897379"/>
            <a:ext cx="3346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构成 / 分级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194560"/>
            <a:ext cx="557784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2299716"/>
            <a:ext cx="7863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上肢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82496" y="2299716"/>
            <a:ext cx="7863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66 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8336" y="2299716"/>
            <a:ext cx="33467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肩肘前臂 36 / 腕 10 / 手 14 / 协调 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596896"/>
            <a:ext cx="5577840" cy="402336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2702052"/>
            <a:ext cx="7863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下肢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82496" y="2702052"/>
            <a:ext cx="7863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34 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88336" y="2702052"/>
            <a:ext cx="33467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髋膝踝 22 / 协调 6 / 反射 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999232"/>
            <a:ext cx="557784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3104388"/>
            <a:ext cx="7863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合计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82496" y="3104388"/>
            <a:ext cx="7863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100 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88336" y="3104388"/>
            <a:ext cx="33467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&lt;50 严重 · 50—84 明显 · 85—95 中度 · ≥96 轻度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1810512"/>
            <a:ext cx="5577840" cy="1591056"/>
          </a:xfrm>
          <a:prstGeom prst="rect">
            <a:avLst/>
          </a:prstGeom>
          <a:noFill/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419856"/>
            <a:ext cx="55778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每项 0—2 分计分：0 = 无法完成，1 = 部分完成，2 = 充分完成。临床最小意义变化值（MCID）：上肢约 5.25 分。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27648" y="1495044"/>
            <a:ext cx="118872" cy="118872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5392" y="1444752"/>
            <a:ext cx="5056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改良 Ashworth 量表（MAS）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27648" y="1810512"/>
            <a:ext cx="5294376" cy="365760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37376" y="1888236"/>
            <a:ext cx="6933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分级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0199" y="1888236"/>
            <a:ext cx="4162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标准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27648" y="2176272"/>
            <a:ext cx="5294376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37376" y="2244852"/>
            <a:ext cx="69336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0 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50199" y="2244852"/>
            <a:ext cx="41620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无张力增加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27648" y="2505456"/>
            <a:ext cx="5294376" cy="329184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37376" y="2574036"/>
            <a:ext cx="69336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1 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50199" y="2574036"/>
            <a:ext cx="41620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轻度增加，抓放时有卡住感或末端轻微阻力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27648" y="2834639"/>
            <a:ext cx="5294376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37376" y="2903220"/>
            <a:ext cx="69336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1+ 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50199" y="2903220"/>
            <a:ext cx="41620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轻度增加，卡住后在余下 &lt;1/2 ROM 内有阻力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27648" y="3163824"/>
            <a:ext cx="5294376" cy="329184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37376" y="3232404"/>
            <a:ext cx="69336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2 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50199" y="3232404"/>
            <a:ext cx="41620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较明显增加，但受累部分仍易被移动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27648" y="3493008"/>
            <a:ext cx="5294376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37376" y="3561588"/>
            <a:ext cx="69336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3 级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50199" y="3561588"/>
            <a:ext cx="41620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显著增加，被动运动困难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27648" y="3822191"/>
            <a:ext cx="5294376" cy="329184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37376" y="3890771"/>
            <a:ext cx="69336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4 级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50199" y="3890771"/>
            <a:ext cx="41620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僵直于屈曲或伸展位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27648" y="1810512"/>
            <a:ext cx="5294376" cy="2340864"/>
          </a:xfrm>
          <a:prstGeom prst="rect">
            <a:avLst/>
          </a:prstGeom>
          <a:noFill/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66928" y="4078224"/>
            <a:ext cx="5577840" cy="1901952"/>
          </a:xfrm>
          <a:prstGeom prst="roundRect">
            <a:avLst>
              <a:gd name="adj" fmla="val 5500"/>
            </a:avLst>
          </a:prstGeom>
          <a:solidFill>
            <a:srgbClr val="FDE6E3"/>
          </a:solidFill>
          <a:ln w="9525">
            <a:solidFill>
              <a:srgbClr val="E85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66928" y="4078224"/>
            <a:ext cx="54864" cy="1901952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4672" y="4197096"/>
            <a:ext cx="51572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9B2C22"/>
                </a:solidFill>
                <a:latin typeface="微软雅黑"/>
              </a:rPr>
              <a:t>痉挛评定的常见误区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672" y="4489704"/>
            <a:ext cx="5157216" cy="138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50" b="0" i="0">
                <a:solidFill>
                  <a:srgbClr val="2C4455"/>
                </a:solidFill>
                <a:latin typeface="微软雅黑"/>
              </a:rPr>
              <a:t>① 只测 MAS 不够：需配合 Tardieu（区分速度依赖成分与挛缩）、PROM、痉挛频率量表（PSFS）
② 检查速度不统一：MAS 要求 1 秒内完成全程被动运动
③ 忽略时段差异：晨起、疲劳后、情绪波动时张力差异显著
④ 未排除挛缩：真性挛缩在任何速度下阻力一致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27648" y="4151376"/>
            <a:ext cx="5294376" cy="1828800"/>
          </a:xfrm>
          <a:prstGeom prst="roundRect">
            <a:avLst>
              <a:gd name="adj" fmla="val 5500"/>
            </a:avLst>
          </a:prstGeom>
          <a:solidFill>
            <a:srgbClr val="D6ECEB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27648" y="4151376"/>
            <a:ext cx="54864" cy="182880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65392" y="4270248"/>
            <a:ext cx="48737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9B2C22"/>
                </a:solidFill>
                <a:latin typeface="微软雅黑"/>
              </a:rPr>
              <a:t>Tardieu 的独特价值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65392" y="4562856"/>
            <a:ext cx="4873752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00" b="0" i="0">
                <a:solidFill>
                  <a:srgbClr val="2C4455"/>
                </a:solidFill>
                <a:latin typeface="微软雅黑"/>
              </a:rPr>
              <a:t>在慢速（V1）与快速（V3）两种速度下分别测量卡住角度：
R1（快速卡住角）与 R2（慢速最大角）之差大 → 以动态痉挛为主，肉毒毒素注射获益大
R1 ≈ R2 → 已形成固定挛缩，需手术或系列石膏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638251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  <a:spcAft>
                <a:spcPts val="400"/>
              </a:spcAft>
            </a:pPr>
            <a:r>
              <a:rPr sz="850" b="0" i="1">
                <a:solidFill>
                  <a:srgbClr val="96A4AE"/>
                </a:solidFill>
                <a:latin typeface="微软雅黑"/>
              </a:rPr>
              <a:t>MAS 评定者间信度在肘、腕较好，踝部偏低，需结合临床判断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E7C7B"/>
                </a:solidFill>
                <a:latin typeface="微软雅黑"/>
              </a:rPr>
              <a:t>SENSORY &amp; 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0A1E2E"/>
                </a:solidFill>
                <a:latin typeface="微软雅黑"/>
              </a:rPr>
              <a:t>感觉与平衡评定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457200"/>
            <a:ext cx="128016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15039" y="457200"/>
            <a:ext cx="128016" cy="128016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95044"/>
            <a:ext cx="118872" cy="11887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444752"/>
            <a:ext cx="5340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感觉检查的三个层次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92224"/>
            <a:ext cx="5577840" cy="6035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979676"/>
            <a:ext cx="228600" cy="2286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75104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874520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2C4455"/>
                </a:solidFill>
                <a:latin typeface="微软雅黑"/>
              </a:rPr>
              <a:t>浅感觉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084832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痛觉、温度觉、轻触觉 —— 脊髓丘脑束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" y="2395728"/>
            <a:ext cx="27432" cy="146304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2542032"/>
            <a:ext cx="5577840" cy="6035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729484"/>
            <a:ext cx="228600" cy="2286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724912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624328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2C4455"/>
                </a:solidFill>
                <a:latin typeface="微软雅黑"/>
              </a:rPr>
              <a:t>深感觉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834640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位置觉、运动觉、振动觉 —— 后索-内侧丘系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" y="3145536"/>
            <a:ext cx="27432" cy="146304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6928" y="3291840"/>
            <a:ext cx="5577840" cy="6035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3479292"/>
            <a:ext cx="228600" cy="2286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47472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374136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2C4455"/>
                </a:solidFill>
                <a:latin typeface="微软雅黑"/>
              </a:rPr>
              <a:t>复合觉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584448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两点辨别、实体觉、图形觉 —— 顶叶皮层整合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005072"/>
            <a:ext cx="5577840" cy="1316736"/>
          </a:xfrm>
          <a:prstGeom prst="roundRect">
            <a:avLst>
              <a:gd name="adj" fmla="val 5500"/>
            </a:avLst>
          </a:prstGeom>
          <a:solidFill>
            <a:srgbClr val="D6ECEB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005072"/>
            <a:ext cx="54864" cy="131673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4123944"/>
            <a:ext cx="51572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9B2C22"/>
                </a:solidFill>
                <a:latin typeface="微软雅黑"/>
              </a:rPr>
              <a:t>深感觉障碍：被低估的致残因素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4416552"/>
            <a:ext cx="5157216" cy="80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50" b="0" i="0">
                <a:solidFill>
                  <a:srgbClr val="2C4455"/>
                </a:solidFill>
                <a:latin typeface="微软雅黑"/>
              </a:rPr>
              <a:t>位置觉缺失的患者即使肌力良好也无法稳定行走，因为缺乏运动反馈。
对策：强化视觉代偿、增加负重输入、镜像疗法、使用弹力绷带提升本体感觉输入。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27648" y="1495044"/>
            <a:ext cx="118872" cy="118872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65392" y="1444752"/>
            <a:ext cx="5056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平衡评定体系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27648" y="1810512"/>
            <a:ext cx="5294376" cy="384048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37376" y="1897379"/>
            <a:ext cx="142362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方法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80458" y="1897379"/>
            <a:ext cx="343183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要点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27648" y="2194560"/>
            <a:ext cx="5294376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37376" y="2299716"/>
            <a:ext cx="142362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三级分法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0458" y="2299716"/>
            <a:ext cx="343183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静态 → 自动态 → 他动态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27648" y="2596896"/>
            <a:ext cx="5294376" cy="402336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37376" y="2702052"/>
            <a:ext cx="142362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Berg 平衡量表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80458" y="2702052"/>
            <a:ext cx="343183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14 项，满分 56；&lt;40 提示跌倒高风险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27648" y="2999232"/>
            <a:ext cx="5294376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37376" y="3104388"/>
            <a:ext cx="142362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起立-行走计时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80458" y="3104388"/>
            <a:ext cx="343183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TUG &gt;14 秒提示跌倒风险增加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27648" y="3401568"/>
            <a:ext cx="5294376" cy="402336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37376" y="3506724"/>
            <a:ext cx="142362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功能性前伸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80458" y="3506724"/>
            <a:ext cx="343183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FRT &lt;15 cm 为高危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27648" y="3803904"/>
            <a:ext cx="5294376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37376" y="3909059"/>
            <a:ext cx="142362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平衡仪测试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80458" y="3909059"/>
            <a:ext cx="343183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压力中心轨迹、稳定极限量化分析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27648" y="1810512"/>
            <a:ext cx="5294376" cy="2395728"/>
          </a:xfrm>
          <a:prstGeom prst="rect">
            <a:avLst/>
          </a:prstGeom>
          <a:noFill/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327648" y="4005072"/>
            <a:ext cx="5294376" cy="1316736"/>
          </a:xfrm>
          <a:prstGeom prst="roundRect">
            <a:avLst>
              <a:gd name="adj" fmla="val 5500"/>
            </a:avLst>
          </a:prstGeom>
          <a:solidFill>
            <a:srgbClr val="FDE6E3"/>
          </a:solidFill>
          <a:ln w="9525">
            <a:solidFill>
              <a:srgbClr val="E85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27648" y="4005072"/>
            <a:ext cx="54864" cy="1316736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65392" y="4123944"/>
            <a:ext cx="48737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9B2C22"/>
                </a:solidFill>
                <a:latin typeface="微软雅黑"/>
              </a:rPr>
              <a:t>推倒综合征（Pusher）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65392" y="4416552"/>
            <a:ext cx="4873752" cy="80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50" b="0" i="0">
                <a:solidFill>
                  <a:srgbClr val="2C4455"/>
                </a:solidFill>
                <a:latin typeface="微软雅黑"/>
              </a:rPr>
              <a:t>患者用健侧肢体主动推向患侧，抗拒被动纠正，多见于右侧顶叶或丘脑病变。
训练关键：不与之对抗，而通过视觉垂直线参照（如墙边、镜子）重建垂直感知。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" y="638251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  <a:spcAft>
                <a:spcPts val="400"/>
              </a:spcAft>
            </a:pPr>
            <a:r>
              <a:rPr sz="850" b="0" i="1">
                <a:solidFill>
                  <a:srgbClr val="96A4AE"/>
                </a:solidFill>
                <a:latin typeface="微软雅黑"/>
              </a:rPr>
              <a:t>跌倒是卒中康复期最常见的不良事件，平衡评定须贯穿全程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E7C7B"/>
                </a:solidFill>
                <a:latin typeface="微软雅黑"/>
              </a:rPr>
              <a:t>GAIT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0A1E2E"/>
                </a:solidFill>
                <a:latin typeface="微软雅黑"/>
              </a:rPr>
              <a:t>步态分析：看懂偏瘫步态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457200"/>
            <a:ext cx="128016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15039" y="457200"/>
            <a:ext cx="128016" cy="128016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95044"/>
            <a:ext cx="118872" cy="11887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444752"/>
            <a:ext cx="5522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常见异常步态与成因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5760720" cy="384048"/>
          </a:xfrm>
          <a:prstGeom prst="rect">
            <a:avLst/>
          </a:prstGeom>
          <a:solidFill>
            <a:srgbClr val="12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897379"/>
            <a:ext cx="1152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表现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48256" y="1897379"/>
            <a:ext cx="16093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特征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77056" y="1897379"/>
            <a:ext cx="23408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主要成因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194560"/>
            <a:ext cx="576072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2308860"/>
            <a:ext cx="11521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划圈步态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48256" y="2308860"/>
            <a:ext cx="160934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髋代偿性外展环转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77056" y="2308860"/>
            <a:ext cx="234086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伸肌共同运动 + 踝背屈不足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615184"/>
            <a:ext cx="5760720" cy="420624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2729484"/>
            <a:ext cx="11521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膝过伸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48256" y="2729484"/>
            <a:ext cx="160934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支撑中期膝反张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77056" y="2729484"/>
            <a:ext cx="234086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股四头肌控制差 / 跖屈肌代偿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035808"/>
            <a:ext cx="576072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3150108"/>
            <a:ext cx="11521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足下垂内翻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48256" y="3150108"/>
            <a:ext cx="160934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摆动期足尖拖地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77056" y="3150108"/>
            <a:ext cx="234086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胫前肌无力 + 小腿三头肌痉挛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456432"/>
            <a:ext cx="5760720" cy="420624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3570732"/>
            <a:ext cx="11521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躯干侧倾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48256" y="3570732"/>
            <a:ext cx="160934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重心偏向健侧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77056" y="3570732"/>
            <a:ext cx="234086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患侧髋外展肌无力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877056"/>
            <a:ext cx="576072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3991356"/>
            <a:ext cx="11521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步长不对称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48256" y="3991356"/>
            <a:ext cx="160934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患侧步长常更短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77056" y="3991356"/>
            <a:ext cx="234086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支撑时间不足、恐惧心理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1810512"/>
            <a:ext cx="5760720" cy="2487168"/>
          </a:xfrm>
          <a:prstGeom prst="rect">
            <a:avLst/>
          </a:prstGeom>
          <a:noFill/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4293108"/>
            <a:ext cx="118872" cy="118872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4242816"/>
            <a:ext cx="5522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评定工具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4590288"/>
            <a:ext cx="5669280" cy="8401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 b="1">
                <a:solidFill>
                  <a:srgbClr val="E85A4F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功能性步行分级 FAC：</a:t>
            </a:r>
            <a:r>
              <a:rPr sz="1050">
                <a:solidFill>
                  <a:srgbClr val="5A6B78"/>
                </a:solidFill>
                <a:latin typeface="微软雅黑"/>
              </a:rPr>
              <a:t>0—5 级，判断是否需要辅助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 b="1">
                <a:solidFill>
                  <a:srgbClr val="E85A4F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10 米步行测试：</a:t>
            </a:r>
            <a:r>
              <a:rPr sz="1050">
                <a:solidFill>
                  <a:srgbClr val="5A6B78"/>
                </a:solidFill>
                <a:latin typeface="微软雅黑"/>
              </a:rPr>
              <a:t>&lt;0.4 m/s 家庭内步行；&gt;0.8 m/s 社区步行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 b="1">
                <a:solidFill>
                  <a:srgbClr val="E85A4F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6 分钟步行试验：</a:t>
            </a:r>
            <a:r>
              <a:rPr sz="1050">
                <a:solidFill>
                  <a:srgbClr val="5A6B78"/>
                </a:solidFill>
                <a:latin typeface="微软雅黑"/>
              </a:rPr>
              <a:t>评估耐力与心肺储备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10528" y="1444752"/>
            <a:ext cx="5111496" cy="2377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56832" y="1536192"/>
            <a:ext cx="48188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A1E2E"/>
                </a:solidFill>
                <a:latin typeface="微软雅黑"/>
              </a:rPr>
              <a:t>步态周期分解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56832" y="1755648"/>
            <a:ext cx="4818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80" b="0" i="0">
                <a:solidFill>
                  <a:srgbClr val="5A6B78"/>
                </a:solidFill>
                <a:latin typeface="微软雅黑"/>
              </a:rPr>
              <a:t>一个完整周期 = 支撑期 60% + 摆动期 40%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48272" y="2999232"/>
            <a:ext cx="4636008" cy="10972"/>
          </a:xfrm>
          <a:prstGeom prst="rect">
            <a:avLst/>
          </a:prstGeom>
          <a:solidFill>
            <a:srgbClr val="DC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 rot="16302589">
            <a:off x="7078862" y="2393923"/>
            <a:ext cx="274201" cy="40907"/>
          </a:xfrm>
          <a:prstGeom prst="roundRect">
            <a:avLst>
              <a:gd name="adj" fmla="val 50000"/>
            </a:avLst>
          </a:prstGeom>
          <a:solidFill>
            <a:srgbClr val="8CA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170965" y="2138252"/>
            <a:ext cx="114540" cy="114540"/>
          </a:xfrm>
          <a:prstGeom prst="ellipse">
            <a:avLst/>
          </a:prstGeom>
          <a:solidFill>
            <a:srgbClr val="8CA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 rot="7680000">
            <a:off x="7046641" y="2614619"/>
            <a:ext cx="204536" cy="34771"/>
          </a:xfrm>
          <a:prstGeom prst="roundRect">
            <a:avLst>
              <a:gd name="adj" fmla="val 50000"/>
            </a:avLst>
          </a:prstGeom>
          <a:solidFill>
            <a:srgbClr val="B9C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 rot="6000000">
            <a:off x="6970721" y="2793939"/>
            <a:ext cx="196355" cy="30680"/>
          </a:xfrm>
          <a:prstGeom prst="roundRect">
            <a:avLst>
              <a:gd name="adj" fmla="val 50000"/>
            </a:avLst>
          </a:prstGeom>
          <a:solidFill>
            <a:srgbClr val="B9C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 rot="342636">
            <a:off x="7051646" y="2898807"/>
            <a:ext cx="82222" cy="22499"/>
          </a:xfrm>
          <a:prstGeom prst="roundRect">
            <a:avLst>
              <a:gd name="adj" fmla="val 50000"/>
            </a:avLst>
          </a:prstGeom>
          <a:solidFill>
            <a:srgbClr val="B9C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 rot="3480000">
            <a:off x="7163798" y="2619736"/>
            <a:ext cx="204536" cy="36816"/>
          </a:xfrm>
          <a:prstGeom prst="roundRect">
            <a:avLst>
              <a:gd name="adj" fmla="val 50000"/>
            </a:avLst>
          </a:prstGeom>
          <a:solidFill>
            <a:srgbClr val="8CA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 rot="4920000">
            <a:off x="7235746" y="2805732"/>
            <a:ext cx="196355" cy="32725"/>
          </a:xfrm>
          <a:prstGeom prst="roundRect">
            <a:avLst>
              <a:gd name="adj" fmla="val 50000"/>
            </a:avLst>
          </a:prstGeom>
          <a:solidFill>
            <a:srgbClr val="8CA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347588" y="2907045"/>
            <a:ext cx="85905" cy="24544"/>
          </a:xfrm>
          <a:prstGeom prst="roundRect">
            <a:avLst>
              <a:gd name="adj" fmla="val 50000"/>
            </a:avLst>
          </a:prstGeom>
          <a:solidFill>
            <a:srgbClr val="8CA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196532" y="2536076"/>
            <a:ext cx="30680" cy="30680"/>
          </a:xfrm>
          <a:prstGeom prst="ellipse">
            <a:avLst/>
          </a:prstGeom>
          <a:solidFill>
            <a:srgbClr val="8CA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305943" y="2710556"/>
            <a:ext cx="28635" cy="28635"/>
          </a:xfrm>
          <a:prstGeom prst="ellipse">
            <a:avLst/>
          </a:prstGeom>
          <a:solidFill>
            <a:srgbClr val="8CA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48272" y="3035808"/>
            <a:ext cx="9272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780" b="0" i="0">
                <a:solidFill>
                  <a:srgbClr val="2C4455"/>
                </a:solidFill>
                <a:latin typeface="微软雅黑"/>
              </a:rPr>
              <a:t>首次着地</a:t>
            </a:r>
          </a:p>
        </p:txBody>
      </p:sp>
      <p:sp>
        <p:nvSpPr>
          <p:cNvPr id="52" name="Rounded Rectangle 51"/>
          <p:cNvSpPr/>
          <p:nvPr/>
        </p:nvSpPr>
        <p:spPr>
          <a:xfrm rot="16302589">
            <a:off x="8006064" y="2393923"/>
            <a:ext cx="274201" cy="40907"/>
          </a:xfrm>
          <a:prstGeom prst="roundRect">
            <a:avLst>
              <a:gd name="adj" fmla="val 50000"/>
            </a:avLst>
          </a:prstGeom>
          <a:solidFill>
            <a:srgbClr val="8CA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098167" y="2138252"/>
            <a:ext cx="114540" cy="114540"/>
          </a:xfrm>
          <a:prstGeom prst="ellipse">
            <a:avLst/>
          </a:prstGeom>
          <a:solidFill>
            <a:srgbClr val="8CA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 rot="7200000">
            <a:off x="7985671" y="2622598"/>
            <a:ext cx="204536" cy="34771"/>
          </a:xfrm>
          <a:prstGeom prst="roundRect">
            <a:avLst>
              <a:gd name="adj" fmla="val 50000"/>
            </a:avLst>
          </a:prstGeom>
          <a:solidFill>
            <a:srgbClr val="B9C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 rot="5520000">
            <a:off x="7935201" y="2811328"/>
            <a:ext cx="196355" cy="30680"/>
          </a:xfrm>
          <a:prstGeom prst="roundRect">
            <a:avLst>
              <a:gd name="adj" fmla="val 50000"/>
            </a:avLst>
          </a:prstGeom>
          <a:solidFill>
            <a:srgbClr val="B9C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 rot="342636">
            <a:off x="8029749" y="2917627"/>
            <a:ext cx="82222" cy="22499"/>
          </a:xfrm>
          <a:prstGeom prst="roundRect">
            <a:avLst>
              <a:gd name="adj" fmla="val 50000"/>
            </a:avLst>
          </a:prstGeom>
          <a:solidFill>
            <a:srgbClr val="B9C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 rot="5280000">
            <a:off x="8040375" y="2635214"/>
            <a:ext cx="204536" cy="36816"/>
          </a:xfrm>
          <a:prstGeom prst="roundRect">
            <a:avLst>
              <a:gd name="adj" fmla="val 50000"/>
            </a:avLst>
          </a:prstGeom>
          <a:solidFill>
            <a:srgbClr val="8CA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 rot="5400000">
            <a:off x="8048034" y="2837643"/>
            <a:ext cx="196355" cy="32725"/>
          </a:xfrm>
          <a:prstGeom prst="roundRect">
            <a:avLst>
              <a:gd name="adj" fmla="val 50000"/>
            </a:avLst>
          </a:prstGeom>
          <a:solidFill>
            <a:srgbClr val="8CA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 rot="3300000">
            <a:off x="8127896" y="2975096"/>
            <a:ext cx="85905" cy="24544"/>
          </a:xfrm>
          <a:prstGeom prst="roundRect">
            <a:avLst>
              <a:gd name="adj" fmla="val 50000"/>
            </a:avLst>
          </a:prstGeom>
          <a:solidFill>
            <a:srgbClr val="8CA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123734" y="2536076"/>
            <a:ext cx="30680" cy="30680"/>
          </a:xfrm>
          <a:prstGeom prst="ellipse">
            <a:avLst/>
          </a:prstGeom>
          <a:solidFill>
            <a:srgbClr val="8CA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131895" y="2741511"/>
            <a:ext cx="28635" cy="28635"/>
          </a:xfrm>
          <a:prstGeom prst="ellipse">
            <a:avLst/>
          </a:prstGeom>
          <a:solidFill>
            <a:srgbClr val="8CA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75473" y="3035808"/>
            <a:ext cx="9272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780" b="0" i="0">
                <a:solidFill>
                  <a:srgbClr val="2C4455"/>
                </a:solidFill>
                <a:latin typeface="微软雅黑"/>
              </a:rPr>
              <a:t>支撑中期</a:t>
            </a:r>
          </a:p>
        </p:txBody>
      </p:sp>
      <p:sp>
        <p:nvSpPr>
          <p:cNvPr id="63" name="Rounded Rectangle 62"/>
          <p:cNvSpPr/>
          <p:nvPr/>
        </p:nvSpPr>
        <p:spPr>
          <a:xfrm rot="16302589">
            <a:off x="8933266" y="2393923"/>
            <a:ext cx="274201" cy="40907"/>
          </a:xfrm>
          <a:prstGeom prst="roundRect">
            <a:avLst>
              <a:gd name="adj" fmla="val 50000"/>
            </a:avLst>
          </a:prstGeom>
          <a:solidFill>
            <a:srgbClr val="8CA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025368" y="2138252"/>
            <a:ext cx="114540" cy="114540"/>
          </a:xfrm>
          <a:prstGeom prst="ellipse">
            <a:avLst/>
          </a:prstGeom>
          <a:solidFill>
            <a:srgbClr val="8CA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 rot="3720000">
            <a:off x="9012019" y="2624328"/>
            <a:ext cx="204536" cy="34771"/>
          </a:xfrm>
          <a:prstGeom prst="roundRect">
            <a:avLst>
              <a:gd name="adj" fmla="val 50000"/>
            </a:avLst>
          </a:prstGeom>
          <a:solidFill>
            <a:srgbClr val="B9C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 rot="5160000">
            <a:off x="9070971" y="2814610"/>
            <a:ext cx="196355" cy="30680"/>
          </a:xfrm>
          <a:prstGeom prst="roundRect">
            <a:avLst>
              <a:gd name="adj" fmla="val 50000"/>
            </a:avLst>
          </a:prstGeom>
          <a:solidFill>
            <a:srgbClr val="B9C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 rot="342636">
            <a:off x="9175793" y="2920730"/>
            <a:ext cx="82222" cy="22499"/>
          </a:xfrm>
          <a:prstGeom prst="roundRect">
            <a:avLst>
              <a:gd name="adj" fmla="val 50000"/>
            </a:avLst>
          </a:prstGeom>
          <a:solidFill>
            <a:srgbClr val="B9C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 rot="6720000">
            <a:off x="8925697" y="2627829"/>
            <a:ext cx="204536" cy="36816"/>
          </a:xfrm>
          <a:prstGeom prst="roundRect">
            <a:avLst>
              <a:gd name="adj" fmla="val 50000"/>
            </a:avLst>
          </a:prstGeom>
          <a:solidFill>
            <a:srgbClr val="8CA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 rot="6240000">
            <a:off x="8867726" y="2819958"/>
            <a:ext cx="196355" cy="32725"/>
          </a:xfrm>
          <a:prstGeom prst="roundRect">
            <a:avLst>
              <a:gd name="adj" fmla="val 50000"/>
            </a:avLst>
          </a:prstGeom>
          <a:solidFill>
            <a:srgbClr val="8CA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 rot="4200000">
            <a:off x="8913890" y="2959672"/>
            <a:ext cx="85905" cy="24544"/>
          </a:xfrm>
          <a:prstGeom prst="roundRect">
            <a:avLst>
              <a:gd name="adj" fmla="val 50000"/>
            </a:avLst>
          </a:prstGeom>
          <a:solidFill>
            <a:srgbClr val="8CA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050935" y="2536076"/>
            <a:ext cx="30680" cy="30680"/>
          </a:xfrm>
          <a:prstGeom prst="ellipse">
            <a:avLst/>
          </a:prstGeom>
          <a:solidFill>
            <a:srgbClr val="8CA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975337" y="2726742"/>
            <a:ext cx="28635" cy="28635"/>
          </a:xfrm>
          <a:prstGeom prst="ellipse">
            <a:avLst/>
          </a:prstGeom>
          <a:solidFill>
            <a:srgbClr val="8CA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602675" y="3035808"/>
            <a:ext cx="9272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780" b="0" i="0">
                <a:solidFill>
                  <a:srgbClr val="2C4455"/>
                </a:solidFill>
                <a:latin typeface="微软雅黑"/>
              </a:rPr>
              <a:t>足跟离地</a:t>
            </a:r>
          </a:p>
        </p:txBody>
      </p:sp>
      <p:sp>
        <p:nvSpPr>
          <p:cNvPr id="74" name="Rounded Rectangle 73"/>
          <p:cNvSpPr/>
          <p:nvPr/>
        </p:nvSpPr>
        <p:spPr>
          <a:xfrm rot="16302589">
            <a:off x="9860467" y="2393923"/>
            <a:ext cx="274201" cy="40907"/>
          </a:xfrm>
          <a:prstGeom prst="roundRect">
            <a:avLst>
              <a:gd name="adj" fmla="val 50000"/>
            </a:avLst>
          </a:prstGeom>
          <a:solidFill>
            <a:srgbClr val="D9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952570" y="2138252"/>
            <a:ext cx="114540" cy="114540"/>
          </a:xfrm>
          <a:prstGeom prst="ellipse">
            <a:avLst/>
          </a:prstGeom>
          <a:solidFill>
            <a:srgbClr val="D9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 rot="5040000">
            <a:off x="9901899" y="2635739"/>
            <a:ext cx="204536" cy="34771"/>
          </a:xfrm>
          <a:prstGeom prst="roundRect">
            <a:avLst>
              <a:gd name="adj" fmla="val 50000"/>
            </a:avLst>
          </a:prstGeom>
          <a:solidFill>
            <a:srgbClr val="B9C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 rot="5520000">
            <a:off x="9913253" y="2837610"/>
            <a:ext cx="196355" cy="30680"/>
          </a:xfrm>
          <a:prstGeom prst="roundRect">
            <a:avLst>
              <a:gd name="adj" fmla="val 50000"/>
            </a:avLst>
          </a:prstGeom>
          <a:solidFill>
            <a:srgbClr val="B9C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 rot="342636">
            <a:off x="10007800" y="2943909"/>
            <a:ext cx="82222" cy="22499"/>
          </a:xfrm>
          <a:prstGeom prst="roundRect">
            <a:avLst>
              <a:gd name="adj" fmla="val 50000"/>
            </a:avLst>
          </a:prstGeom>
          <a:solidFill>
            <a:srgbClr val="B9C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 rot="7500000">
            <a:off x="9832550" y="2616781"/>
            <a:ext cx="204536" cy="36816"/>
          </a:xfrm>
          <a:prstGeom prst="roundRect">
            <a:avLst>
              <a:gd name="adj" fmla="val 50000"/>
            </a:avLst>
          </a:prstGeom>
          <a:solidFill>
            <a:srgbClr val="D9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 rot="3300000">
            <a:off x="9834294" y="2783022"/>
            <a:ext cx="196355" cy="32725"/>
          </a:xfrm>
          <a:prstGeom prst="roundRect">
            <a:avLst>
              <a:gd name="adj" fmla="val 50000"/>
            </a:avLst>
          </a:prstGeom>
          <a:solidFill>
            <a:srgbClr val="D9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 rot="4800000">
            <a:off x="9953290" y="2909836"/>
            <a:ext cx="85905" cy="24544"/>
          </a:xfrm>
          <a:prstGeom prst="roundRect">
            <a:avLst>
              <a:gd name="adj" fmla="val 50000"/>
            </a:avLst>
          </a:prstGeom>
          <a:solidFill>
            <a:srgbClr val="D9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978137" y="2536076"/>
            <a:ext cx="30680" cy="30680"/>
          </a:xfrm>
          <a:prstGeom prst="ellipse">
            <a:avLst/>
          </a:prstGeom>
          <a:solidFill>
            <a:srgbClr val="D9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861842" y="2704645"/>
            <a:ext cx="28635" cy="28635"/>
          </a:xfrm>
          <a:prstGeom prst="ellipse">
            <a:avLst/>
          </a:prstGeom>
          <a:solidFill>
            <a:srgbClr val="D9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529876" y="3035808"/>
            <a:ext cx="9272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780" b="0" i="0">
                <a:solidFill>
                  <a:srgbClr val="2C4455"/>
                </a:solidFill>
                <a:latin typeface="微软雅黑"/>
              </a:rPr>
              <a:t>摆动初期</a:t>
            </a:r>
          </a:p>
        </p:txBody>
      </p:sp>
      <p:sp>
        <p:nvSpPr>
          <p:cNvPr id="85" name="Rounded Rectangle 84"/>
          <p:cNvSpPr/>
          <p:nvPr/>
        </p:nvSpPr>
        <p:spPr>
          <a:xfrm rot="16302589">
            <a:off x="10787669" y="2393923"/>
            <a:ext cx="274201" cy="40907"/>
          </a:xfrm>
          <a:prstGeom prst="roundRect">
            <a:avLst>
              <a:gd name="adj" fmla="val 50000"/>
            </a:avLst>
          </a:prstGeom>
          <a:solidFill>
            <a:srgbClr val="D9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879771" y="2138252"/>
            <a:ext cx="114540" cy="114540"/>
          </a:xfrm>
          <a:prstGeom prst="ellipse">
            <a:avLst/>
          </a:prstGeom>
          <a:solidFill>
            <a:srgbClr val="D9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 rot="6480000">
            <a:off x="10786808" y="2631294"/>
            <a:ext cx="204536" cy="34771"/>
          </a:xfrm>
          <a:prstGeom prst="roundRect">
            <a:avLst>
              <a:gd name="adj" fmla="val 50000"/>
            </a:avLst>
          </a:prstGeom>
          <a:solidFill>
            <a:srgbClr val="B9C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 rot="5640000">
            <a:off x="10752447" y="2828540"/>
            <a:ext cx="196355" cy="30680"/>
          </a:xfrm>
          <a:prstGeom prst="roundRect">
            <a:avLst>
              <a:gd name="adj" fmla="val 50000"/>
            </a:avLst>
          </a:prstGeom>
          <a:solidFill>
            <a:srgbClr val="B9C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 rot="342636">
            <a:off x="10843572" y="2934660"/>
            <a:ext cx="82222" cy="22499"/>
          </a:xfrm>
          <a:prstGeom prst="roundRect">
            <a:avLst>
              <a:gd name="adj" fmla="val 50000"/>
            </a:avLst>
          </a:prstGeom>
          <a:solidFill>
            <a:srgbClr val="B9C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 rot="3360000">
            <a:off x="10875598" y="2617792"/>
            <a:ext cx="204536" cy="36816"/>
          </a:xfrm>
          <a:prstGeom prst="roundRect">
            <a:avLst>
              <a:gd name="adj" fmla="val 50000"/>
            </a:avLst>
          </a:prstGeom>
          <a:solidFill>
            <a:srgbClr val="D9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 rot="4800000">
            <a:off x="10953925" y="2801308"/>
            <a:ext cx="196355" cy="32725"/>
          </a:xfrm>
          <a:prstGeom prst="roundRect">
            <a:avLst>
              <a:gd name="adj" fmla="val 50000"/>
            </a:avLst>
          </a:prstGeom>
          <a:solidFill>
            <a:srgbClr val="D9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 rot="1200000">
            <a:off x="11066561" y="2916776"/>
            <a:ext cx="85905" cy="24544"/>
          </a:xfrm>
          <a:prstGeom prst="roundRect">
            <a:avLst>
              <a:gd name="adj" fmla="val 50000"/>
            </a:avLst>
          </a:prstGeom>
          <a:solidFill>
            <a:srgbClr val="D9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905338" y="2536076"/>
            <a:ext cx="30680" cy="30680"/>
          </a:xfrm>
          <a:prstGeom prst="ellipse">
            <a:avLst/>
          </a:prstGeom>
          <a:solidFill>
            <a:srgbClr val="D9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1020737" y="2706667"/>
            <a:ext cx="28635" cy="28635"/>
          </a:xfrm>
          <a:prstGeom prst="ellipse">
            <a:avLst/>
          </a:prstGeom>
          <a:solidFill>
            <a:srgbClr val="D98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457078" y="3035808"/>
            <a:ext cx="92720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780" b="0" i="0">
                <a:solidFill>
                  <a:srgbClr val="2C4455"/>
                </a:solidFill>
                <a:latin typeface="微软雅黑"/>
              </a:rPr>
              <a:t>摆动末期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748272" y="3255263"/>
            <a:ext cx="2781604" cy="201168"/>
          </a:xfrm>
          <a:prstGeom prst="roundRect">
            <a:avLst>
              <a:gd name="adj" fmla="val 18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9529876" y="3255263"/>
            <a:ext cx="1854403" cy="201168"/>
          </a:xfrm>
          <a:prstGeom prst="roundRect">
            <a:avLst>
              <a:gd name="adj" fmla="val 18000"/>
            </a:avLst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748272" y="3259835"/>
            <a:ext cx="278160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860" b="1" i="0">
                <a:solidFill>
                  <a:srgbClr val="FFFFFF"/>
                </a:solidFill>
                <a:latin typeface="微软雅黑"/>
              </a:rPr>
              <a:t>支 撑 期  60%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529876" y="3259835"/>
            <a:ext cx="1854403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860" b="1" i="0">
                <a:solidFill>
                  <a:srgbClr val="FFFFFF"/>
                </a:solidFill>
                <a:latin typeface="微软雅黑"/>
              </a:rPr>
              <a:t>摆 动 期  40%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748272" y="3493007"/>
            <a:ext cx="46360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800" b="0" i="0">
                <a:solidFill>
                  <a:srgbClr val="E85A4F"/>
                </a:solidFill>
                <a:latin typeface="微软雅黑"/>
              </a:rPr>
              <a:t>偏瘫典型异常：患侧支撑时间缩短 · 摆动期足下垂拖地 · 划圈代偿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510528" y="4023360"/>
            <a:ext cx="5111496" cy="1901952"/>
          </a:xfrm>
          <a:prstGeom prst="roundRect">
            <a:avLst>
              <a:gd name="adj" fmla="val 5500"/>
            </a:avLst>
          </a:prstGeom>
          <a:solidFill>
            <a:srgbClr val="D6ECEB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510528" y="4023360"/>
            <a:ext cx="54864" cy="190195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748272" y="4142232"/>
            <a:ext cx="46908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9B2C22"/>
                </a:solidFill>
                <a:latin typeface="微软雅黑"/>
              </a:rPr>
              <a:t>步态训练的核心原则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748272" y="4434840"/>
            <a:ext cx="4690872" cy="138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00" b="0" i="0">
                <a:solidFill>
                  <a:srgbClr val="2C4455"/>
                </a:solidFill>
                <a:latin typeface="微软雅黑"/>
              </a:rPr>
              <a:t>① 先站稳再走：单腿支撑能力不足时强行步行只会固化代偿模式
② 踝足矫形器（AFO）不是失败的象征 —— 早期使用可打破异常模式、提高训练效率
③ 减重步行、功能性电刺激、机器人辅助可提供高重复量输入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66928" y="638251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  <a:spcAft>
                <a:spcPts val="400"/>
              </a:spcAft>
            </a:pPr>
            <a:r>
              <a:rPr sz="850" b="0" i="1">
                <a:solidFill>
                  <a:srgbClr val="96A4AE"/>
                </a:solidFill>
                <a:latin typeface="微软雅黑"/>
              </a:rPr>
              <a:t>步行能力恢复是患者最关心的目标，也是回归家庭的关键门槛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E7C7B"/>
                </a:solidFill>
                <a:latin typeface="微软雅黑"/>
              </a:rPr>
              <a:t>SPEECH &amp; SWALLOWING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0A1E2E"/>
                </a:solidFill>
                <a:latin typeface="微软雅黑"/>
              </a:rPr>
              <a:t>言语与吞咽：最影响生活质量的两项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457200"/>
            <a:ext cx="128016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15039" y="457200"/>
            <a:ext cx="128016" cy="128016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95044"/>
            <a:ext cx="118872" cy="11887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444752"/>
            <a:ext cx="5340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失语症分类速查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10512"/>
            <a:ext cx="5577840" cy="384048"/>
          </a:xfrm>
          <a:prstGeom prst="rect">
            <a:avLst/>
          </a:prstGeom>
          <a:solidFill>
            <a:srgbClr val="12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897379"/>
            <a:ext cx="786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微软雅黑"/>
              </a:rPr>
              <a:t>类型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82496" y="1897379"/>
            <a:ext cx="969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微软雅黑"/>
              </a:rPr>
              <a:t>口语表达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71216" y="1897379"/>
            <a:ext cx="694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微软雅黑"/>
              </a:rPr>
              <a:t>听理解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85616" y="1897379"/>
            <a:ext cx="557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微软雅黑"/>
              </a:rPr>
              <a:t>复述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1897379"/>
            <a:ext cx="1472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微软雅黑"/>
              </a:rPr>
              <a:t>病灶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194560"/>
            <a:ext cx="55778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290572"/>
            <a:ext cx="7863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00" b="1" i="0">
                <a:solidFill>
                  <a:srgbClr val="2C4455"/>
                </a:solidFill>
                <a:latin typeface="微软雅黑"/>
              </a:rPr>
              <a:t>Broca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82496" y="2290572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00" b="0" i="0">
                <a:solidFill>
                  <a:srgbClr val="5A6B78"/>
                </a:solidFill>
                <a:latin typeface="微软雅黑"/>
              </a:rPr>
              <a:t>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71216" y="2290572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00" b="0" i="0">
                <a:solidFill>
                  <a:srgbClr val="5A6B78"/>
                </a:solidFill>
                <a:latin typeface="微软雅黑"/>
              </a:rPr>
              <a:t>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85616" y="2290572"/>
            <a:ext cx="5577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00" b="0" i="0">
                <a:solidFill>
                  <a:srgbClr val="5A6B78"/>
                </a:solidFill>
                <a:latin typeface="微软雅黑"/>
              </a:rPr>
              <a:t>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2290572"/>
            <a:ext cx="1472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00" b="0" i="0">
                <a:solidFill>
                  <a:srgbClr val="5A6B78"/>
                </a:solidFill>
                <a:latin typeface="微软雅黑"/>
              </a:rPr>
              <a:t>额下回后部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578608"/>
            <a:ext cx="5577840" cy="384048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2674620"/>
            <a:ext cx="7863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00" b="1" i="0">
                <a:solidFill>
                  <a:srgbClr val="2C4455"/>
                </a:solidFill>
                <a:latin typeface="微软雅黑"/>
              </a:rPr>
              <a:t>Wernicke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82496" y="2674620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00" b="0" i="0">
                <a:solidFill>
                  <a:srgbClr val="5A6B78"/>
                </a:solidFill>
                <a:latin typeface="微软雅黑"/>
              </a:rPr>
              <a:t>流利但空洞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71216" y="2674620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00" b="0" i="0">
                <a:solidFill>
                  <a:srgbClr val="5A6B78"/>
                </a:solidFill>
                <a:latin typeface="微软雅黑"/>
              </a:rPr>
              <a:t>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5616" y="2674620"/>
            <a:ext cx="5577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00" b="0" i="0">
                <a:solidFill>
                  <a:srgbClr val="5A6B78"/>
                </a:solidFill>
                <a:latin typeface="微软雅黑"/>
              </a:rPr>
              <a:t>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2674620"/>
            <a:ext cx="1472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00" b="0" i="0">
                <a:solidFill>
                  <a:srgbClr val="5A6B78"/>
                </a:solidFill>
                <a:latin typeface="微软雅黑"/>
              </a:rPr>
              <a:t>颞上回后部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2962656"/>
            <a:ext cx="55778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3058668"/>
            <a:ext cx="7863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00" b="1" i="0">
                <a:solidFill>
                  <a:srgbClr val="2C4455"/>
                </a:solidFill>
                <a:latin typeface="微软雅黑"/>
              </a:rPr>
              <a:t>传导性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82496" y="3058668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00" b="0" i="0">
                <a:solidFill>
                  <a:srgbClr val="5A6B78"/>
                </a:solidFill>
                <a:latin typeface="微软雅黑"/>
              </a:rPr>
              <a:t>尚可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71216" y="3058668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00" b="0" i="0">
                <a:solidFill>
                  <a:srgbClr val="5A6B78"/>
                </a:solidFill>
                <a:latin typeface="微软雅黑"/>
              </a:rPr>
              <a:t>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85616" y="3058668"/>
            <a:ext cx="5577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00" b="0" i="0">
                <a:solidFill>
                  <a:srgbClr val="5A6B78"/>
                </a:solidFill>
                <a:latin typeface="微软雅黑"/>
              </a:rPr>
              <a:t>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2856" y="3058668"/>
            <a:ext cx="1472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00" b="0" i="0">
                <a:solidFill>
                  <a:srgbClr val="5A6B78"/>
                </a:solidFill>
                <a:latin typeface="微软雅黑"/>
              </a:rPr>
              <a:t>弓状束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346704"/>
            <a:ext cx="5577840" cy="384048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" y="3442716"/>
            <a:ext cx="7863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00" b="1" i="0">
                <a:solidFill>
                  <a:srgbClr val="2C4455"/>
                </a:solidFill>
                <a:latin typeface="微软雅黑"/>
              </a:rPr>
              <a:t>命名性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82496" y="344271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00" b="0" i="0">
                <a:solidFill>
                  <a:srgbClr val="5A6B78"/>
                </a:solidFill>
                <a:latin typeface="微软雅黑"/>
              </a:rPr>
              <a:t>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71216" y="3442716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00" b="0" i="0">
                <a:solidFill>
                  <a:srgbClr val="5A6B78"/>
                </a:solidFill>
                <a:latin typeface="微软雅黑"/>
              </a:rPr>
              <a:t>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85616" y="3442716"/>
            <a:ext cx="5577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00" b="0" i="0">
                <a:solidFill>
                  <a:srgbClr val="5A6B78"/>
                </a:solidFill>
                <a:latin typeface="微软雅黑"/>
              </a:rPr>
              <a:t>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2856" y="3442716"/>
            <a:ext cx="1472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00" b="0" i="0">
                <a:solidFill>
                  <a:srgbClr val="5A6B78"/>
                </a:solidFill>
                <a:latin typeface="微软雅黑"/>
              </a:rPr>
              <a:t>颞顶交界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3730752"/>
            <a:ext cx="55778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6" y="3826763"/>
            <a:ext cx="7863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00" b="1" i="0">
                <a:solidFill>
                  <a:srgbClr val="2C4455"/>
                </a:solidFill>
                <a:latin typeface="微软雅黑"/>
              </a:rPr>
              <a:t>完全性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82496" y="3826763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00" b="0" i="0">
                <a:solidFill>
                  <a:srgbClr val="5A6B78"/>
                </a:solidFill>
                <a:latin typeface="微软雅黑"/>
              </a:rPr>
              <a:t>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71216" y="3826763"/>
            <a:ext cx="6949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00" b="0" i="0">
                <a:solidFill>
                  <a:srgbClr val="5A6B78"/>
                </a:solidFill>
                <a:latin typeface="微软雅黑"/>
              </a:rPr>
              <a:t>差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85616" y="3826763"/>
            <a:ext cx="5577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00" b="0" i="0">
                <a:solidFill>
                  <a:srgbClr val="5A6B78"/>
                </a:solidFill>
                <a:latin typeface="微软雅黑"/>
              </a:rPr>
              <a:t>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62856" y="3826763"/>
            <a:ext cx="1472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00" b="0" i="0">
                <a:solidFill>
                  <a:srgbClr val="5A6B78"/>
                </a:solidFill>
                <a:latin typeface="微软雅黑"/>
              </a:rPr>
              <a:t>大脑中动脉主干区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1810512"/>
            <a:ext cx="5577840" cy="2304288"/>
          </a:xfrm>
          <a:prstGeom prst="rect">
            <a:avLst/>
          </a:prstGeom>
          <a:noFill/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66928" y="4114800"/>
            <a:ext cx="5577840" cy="1792224"/>
          </a:xfrm>
          <a:prstGeom prst="roundRect">
            <a:avLst>
              <a:gd name="adj" fmla="val 5500"/>
            </a:avLst>
          </a:prstGeom>
          <a:solidFill>
            <a:srgbClr val="D6ECEB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66928" y="4114800"/>
            <a:ext cx="54864" cy="179222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" y="4233672"/>
            <a:ext cx="51572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9B2C22"/>
                </a:solidFill>
                <a:latin typeface="微软雅黑"/>
              </a:rPr>
              <a:t>构音障碍 ≠ 失语症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2" y="4526280"/>
            <a:ext cx="515721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00" b="0" i="0">
                <a:solidFill>
                  <a:srgbClr val="2C4455"/>
                </a:solidFill>
                <a:latin typeface="微软雅黑"/>
              </a:rPr>
              <a:t>构音障碍是「说不清」——语言能力完好，肌肉控制出问题，患者能正常书写与理解。
失语症是「语言系统受损」——听、说、读、写常同时受累。
快速鉴别：给患者纸笔。能写出完整句子 → 构音障碍。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27648" y="1495044"/>
            <a:ext cx="118872" cy="118872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65392" y="1444752"/>
            <a:ext cx="5056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吞咽障碍评估流程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27648" y="1792224"/>
            <a:ext cx="5294376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5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446520" y="1961388"/>
            <a:ext cx="228600" cy="228600"/>
          </a:xfrm>
          <a:prstGeom prst="ellipse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46520" y="1956816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1874520"/>
            <a:ext cx="47457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2C4455"/>
                </a:solidFill>
                <a:latin typeface="微软雅黑"/>
              </a:rPr>
              <a:t>床旁筛查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60" y="2084832"/>
            <a:ext cx="47457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洼田饮水试验、反复唾液吞咽试验（RSST）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60820" y="2359152"/>
            <a:ext cx="27432" cy="118872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327648" y="2478024"/>
            <a:ext cx="5294376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5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46520" y="2647188"/>
            <a:ext cx="228600" cy="228600"/>
          </a:xfrm>
          <a:prstGeom prst="ellipse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46520" y="2642616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2560320"/>
            <a:ext cx="47457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2C4455"/>
                </a:solidFill>
                <a:latin typeface="微软雅黑"/>
              </a:rPr>
              <a:t>临床评估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66560" y="2770632"/>
            <a:ext cx="47457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口颜面功能、咽反射、发声质量（湿性嘶哑）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60820" y="3044952"/>
            <a:ext cx="27432" cy="118872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327648" y="3163824"/>
            <a:ext cx="5294376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5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46520" y="3332988"/>
            <a:ext cx="228600" cy="228600"/>
          </a:xfrm>
          <a:prstGeom prst="ellipse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46520" y="3328416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66560" y="3246120"/>
            <a:ext cx="47457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2C4455"/>
                </a:solidFill>
                <a:latin typeface="微软雅黑"/>
              </a:rPr>
              <a:t>仪器检查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66560" y="3456432"/>
            <a:ext cx="47457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VFSS 吞咽造影（金标准）/ FEES 纤维内镜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60820" y="3730752"/>
            <a:ext cx="27432" cy="118872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327648" y="3849624"/>
            <a:ext cx="5294376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5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446520" y="4018787"/>
            <a:ext cx="228600" cy="228600"/>
          </a:xfrm>
          <a:prstGeom prst="ellipse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46520" y="4014215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66560" y="3931920"/>
            <a:ext cx="47457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2C4455"/>
                </a:solidFill>
                <a:latin typeface="微软雅黑"/>
              </a:rPr>
              <a:t>分级与决策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66560" y="4142232"/>
            <a:ext cx="47457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确定进食途径、食物性状与代偿姿势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327648" y="4352544"/>
            <a:ext cx="5294376" cy="1572768"/>
          </a:xfrm>
          <a:prstGeom prst="roundRect">
            <a:avLst>
              <a:gd name="adj" fmla="val 5500"/>
            </a:avLst>
          </a:prstGeom>
          <a:solidFill>
            <a:srgbClr val="FDE6E3"/>
          </a:solidFill>
          <a:ln w="9525">
            <a:solidFill>
              <a:srgbClr val="E85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27648" y="4352544"/>
            <a:ext cx="54864" cy="1572768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565392" y="4471416"/>
            <a:ext cx="48737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9B2C22"/>
                </a:solidFill>
                <a:latin typeface="微软雅黑"/>
              </a:rPr>
              <a:t>隐性误吸：最危险的情况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65392" y="4764024"/>
            <a:ext cx="487375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50" b="0" i="0">
                <a:solidFill>
                  <a:srgbClr val="2C4455"/>
                </a:solidFill>
                <a:latin typeface="微软雅黑"/>
              </a:rPr>
              <a:t>约 40% 的误吸患者不出现呛咳 —— 咽部感觉减退使保护性咳嗽消失。
警示信号：进食后湿性嗓音、反复低热、不明原因肺炎、体重下降。
仅靠饮水试验会漏诊，高危患者应直接行 VFSS。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66928" y="638251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  <a:spcAft>
                <a:spcPts val="400"/>
              </a:spcAft>
            </a:pPr>
            <a:r>
              <a:rPr sz="850" b="0" i="1">
                <a:solidFill>
                  <a:srgbClr val="96A4AE"/>
                </a:solidFill>
                <a:latin typeface="微软雅黑"/>
              </a:rPr>
              <a:t>误吸性肺炎是卒中后首位可预防死因，吞咽筛查须在进食前完成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E7C7B"/>
                </a:solidFill>
                <a:latin typeface="微软雅黑"/>
              </a:rPr>
              <a:t>COGNITION · MOOD · ADL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0A1E2E"/>
                </a:solidFill>
                <a:latin typeface="微软雅黑"/>
              </a:rPr>
              <a:t>认知、情绪与日常生活能力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457200"/>
            <a:ext cx="128016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15039" y="457200"/>
            <a:ext cx="128016" cy="128016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95044"/>
            <a:ext cx="118872" cy="11887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444752"/>
            <a:ext cx="3419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认知筛查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73936"/>
            <a:ext cx="3566160" cy="1140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050" b="1">
                <a:solidFill>
                  <a:srgbClr val="0E7C7B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MMSE：</a:t>
            </a:r>
            <a:r>
              <a:rPr sz="1050">
                <a:solidFill>
                  <a:srgbClr val="5A6B78"/>
                </a:solidFill>
                <a:latin typeface="微软雅黑"/>
              </a:rPr>
              <a:t>快速筛查，对轻度认知损害不敏感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050" b="1">
                <a:solidFill>
                  <a:srgbClr val="0E7C7B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MoCA：</a:t>
            </a:r>
            <a:r>
              <a:rPr sz="1050">
                <a:solidFill>
                  <a:srgbClr val="5A6B78"/>
                </a:solidFill>
                <a:latin typeface="微软雅黑"/>
              </a:rPr>
              <a:t>更敏感，&lt;26 分提示异常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050" b="1">
                <a:solidFill>
                  <a:srgbClr val="0E7C7B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LOTCA：</a:t>
            </a:r>
            <a:r>
              <a:rPr sz="1050">
                <a:solidFill>
                  <a:srgbClr val="5A6B78"/>
                </a:solidFill>
                <a:latin typeface="微软雅黑"/>
              </a:rPr>
              <a:t>作业治疗导向，评估视知觉与操作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050" b="1">
                <a:solidFill>
                  <a:srgbClr val="0E7C7B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单侧忽略：</a:t>
            </a:r>
            <a:r>
              <a:rPr sz="1050">
                <a:solidFill>
                  <a:srgbClr val="5A6B78"/>
                </a:solidFill>
                <a:latin typeface="微软雅黑"/>
              </a:rPr>
              <a:t>线段划消、二等分、画钟测验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495044"/>
            <a:ext cx="118872" cy="118872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444752"/>
            <a:ext cx="3419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情绪评估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1773936"/>
            <a:ext cx="3566160" cy="1140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050" b="1">
                <a:solidFill>
                  <a:srgbClr val="E85A4F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PHQ-9 / HAMD：</a:t>
            </a:r>
            <a:r>
              <a:rPr sz="1050">
                <a:solidFill>
                  <a:srgbClr val="5A6B78"/>
                </a:solidFill>
                <a:latin typeface="微软雅黑"/>
              </a:rPr>
              <a:t>抑郁筛查与严重度分级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050" b="1">
                <a:solidFill>
                  <a:srgbClr val="E85A4F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卒中后抑郁：</a:t>
            </a:r>
            <a:r>
              <a:rPr sz="1050">
                <a:solidFill>
                  <a:srgbClr val="5A6B78"/>
                </a:solidFill>
                <a:latin typeface="微软雅黑"/>
              </a:rPr>
              <a:t>发生率 30—40%，显著拖慢功能恢复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050" b="1">
                <a:solidFill>
                  <a:srgbClr val="E85A4F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情绪失禁：</a:t>
            </a:r>
            <a:r>
              <a:rPr sz="1050">
                <a:solidFill>
                  <a:srgbClr val="5A6B78"/>
                </a:solidFill>
                <a:latin typeface="微软雅黑"/>
              </a:rPr>
              <a:t>病理性哭笑，需与抑郁鉴别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050" b="1">
                <a:solidFill>
                  <a:srgbClr val="E85A4F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照护者负担：</a:t>
            </a:r>
            <a:r>
              <a:rPr sz="1050">
                <a:solidFill>
                  <a:srgbClr val="5A6B78"/>
                </a:solidFill>
                <a:latin typeface="微软雅黑"/>
              </a:rPr>
              <a:t>Zarit 量表，常被忽视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5008" y="1495044"/>
            <a:ext cx="118872" cy="118872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444752"/>
            <a:ext cx="3328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ADL 评定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1773936"/>
            <a:ext cx="3474720" cy="1140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050" b="1">
                <a:solidFill>
                  <a:srgbClr val="D99A2B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改良 Barthel：</a:t>
            </a:r>
            <a:r>
              <a:rPr sz="1050">
                <a:solidFill>
                  <a:srgbClr val="5A6B78"/>
                </a:solidFill>
                <a:latin typeface="微软雅黑"/>
              </a:rPr>
              <a:t>100 分制，基础 ADL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050" b="1">
                <a:solidFill>
                  <a:srgbClr val="D99A2B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FIM：</a:t>
            </a:r>
            <a:r>
              <a:rPr sz="1050">
                <a:solidFill>
                  <a:srgbClr val="5A6B78"/>
                </a:solidFill>
                <a:latin typeface="微软雅黑"/>
              </a:rPr>
              <a:t>18 项，含认知与社会交往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050" b="1">
                <a:solidFill>
                  <a:srgbClr val="D99A2B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IADL：</a:t>
            </a:r>
            <a:r>
              <a:rPr sz="1050">
                <a:solidFill>
                  <a:srgbClr val="5A6B78"/>
                </a:solidFill>
                <a:latin typeface="微软雅黑"/>
              </a:rPr>
              <a:t>购物、理财、服药等工具性活动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050" b="1">
                <a:solidFill>
                  <a:srgbClr val="D99A2B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目标：</a:t>
            </a:r>
            <a:r>
              <a:rPr sz="1050">
                <a:solidFill>
                  <a:srgbClr val="5A6B78"/>
                </a:solidFill>
                <a:latin typeface="微软雅黑"/>
              </a:rPr>
              <a:t>从「能做」到「日常真的在做」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616452"/>
            <a:ext cx="118872" cy="11887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56616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Barthel 指数分级与照护含义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913632"/>
            <a:ext cx="11057839" cy="384048"/>
          </a:xfrm>
          <a:prstGeom prst="rect">
            <a:avLst/>
          </a:prstGeom>
          <a:solidFill>
            <a:srgbClr val="12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4000500"/>
            <a:ext cx="10599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微软雅黑"/>
              </a:rPr>
              <a:t>得分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56075" y="4000500"/>
            <a:ext cx="14255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微软雅黑"/>
              </a:rPr>
              <a:t>依赖程度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1043" y="4000500"/>
            <a:ext cx="79139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微软雅黑"/>
              </a:rPr>
              <a:t>照护与康复重点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297680"/>
            <a:ext cx="11057839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4393692"/>
            <a:ext cx="105996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100 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6075" y="4393692"/>
            <a:ext cx="142551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完全自理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1043" y="4393692"/>
            <a:ext cx="79139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可独立生活，关注重返社会与工作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681728"/>
            <a:ext cx="11057839" cy="384048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777740"/>
            <a:ext cx="105996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61—99 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6075" y="4777740"/>
            <a:ext cx="142551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轻度依赖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1043" y="4777740"/>
            <a:ext cx="79139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少量帮助，重点训练 IADL 与外出能力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5065776"/>
            <a:ext cx="11057839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5161788"/>
            <a:ext cx="105996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41—60 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6075" y="5161788"/>
            <a:ext cx="142551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中度依赖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01043" y="5161788"/>
            <a:ext cx="79139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需较多帮助，家属培训是关键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5449824"/>
            <a:ext cx="11057839" cy="384048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5545836"/>
            <a:ext cx="105996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≤40 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56075" y="5545836"/>
            <a:ext cx="142551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重度依赖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01043" y="5545836"/>
            <a:ext cx="79139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全面照护，重点防压疮、误吸、关节挛缩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913632"/>
            <a:ext cx="11057839" cy="1920240"/>
          </a:xfrm>
          <a:prstGeom prst="rect">
            <a:avLst/>
          </a:prstGeom>
          <a:noFill/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638251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  <a:spcAft>
                <a:spcPts val="400"/>
              </a:spcAft>
            </a:pPr>
            <a:r>
              <a:rPr sz="850" b="0" i="1">
                <a:solidFill>
                  <a:srgbClr val="96A4AE"/>
                </a:solidFill>
                <a:latin typeface="微软雅黑"/>
              </a:rPr>
              <a:t>卒中后抑郁筛查建议在入院、出院、随访三个节点常规进行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0312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600" b="1" i="0">
                <a:solidFill>
                  <a:srgbClr val="4FA8A6"/>
                </a:solidFill>
                <a:latin typeface="微软雅黑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3145536"/>
            <a:ext cx="731520" cy="45720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438144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3100" b="1" i="0">
                <a:solidFill>
                  <a:srgbClr val="FFFFFF"/>
                </a:solidFill>
                <a:latin typeface="微软雅黑"/>
              </a:rPr>
              <a:t>康复治疗
技术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98848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400"/>
              </a:spcAft>
            </a:pPr>
            <a:r>
              <a:rPr sz="1200" b="0" i="0">
                <a:solidFill>
                  <a:srgbClr val="9FB8C4"/>
                </a:solidFill>
                <a:latin typeface="微软雅黑"/>
              </a:rPr>
              <a:t>从神经促进到现代循证技术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231136"/>
            <a:ext cx="109728" cy="109728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3969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 i="0">
                <a:solidFill>
                  <a:srgbClr val="D6E4EB"/>
                </a:solidFill>
                <a:latin typeface="微软雅黑"/>
              </a:rPr>
              <a:t>分期康复策略与介入时机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834640"/>
            <a:ext cx="109728" cy="109728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7432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 i="0">
                <a:solidFill>
                  <a:srgbClr val="D6E4EB"/>
                </a:solidFill>
                <a:latin typeface="微软雅黑"/>
              </a:rPr>
              <a:t>良肢位、体位转移与早期离床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438144"/>
            <a:ext cx="109728" cy="109728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346704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 i="0">
                <a:solidFill>
                  <a:srgbClr val="D6E4EB"/>
                </a:solidFill>
                <a:latin typeface="微软雅黑"/>
              </a:rPr>
              <a:t>神经促进技术的原理与取舍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4041648"/>
            <a:ext cx="109728" cy="109728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95020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 i="0">
                <a:solidFill>
                  <a:srgbClr val="D6E4EB"/>
                </a:solidFill>
                <a:latin typeface="微软雅黑"/>
              </a:rPr>
              <a:t>痉挛的阶梯化管理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4645152"/>
            <a:ext cx="109728" cy="109728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455371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 i="0">
                <a:solidFill>
                  <a:srgbClr val="D6E4EB"/>
                </a:solidFill>
                <a:latin typeface="微软雅黑"/>
              </a:rPr>
              <a:t>作业治疗、言语与吞咽训练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5248656"/>
            <a:ext cx="109728" cy="109728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515721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 i="0">
                <a:solidFill>
                  <a:srgbClr val="D6E4EB"/>
                </a:solidFill>
                <a:latin typeface="微软雅黑"/>
              </a:rPr>
              <a:t>现代技术：CIMT · 镜像 · 机器人 · BCI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E7C7B"/>
                </a:solidFill>
                <a:latin typeface="微软雅黑"/>
              </a:rPr>
              <a:t>PHASED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0A1E2E"/>
                </a:solidFill>
                <a:latin typeface="微软雅黑"/>
              </a:rPr>
              <a:t>分期康复策略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457200"/>
            <a:ext cx="128016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15039" y="457200"/>
            <a:ext cx="128016" cy="128016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11057839" cy="402336"/>
          </a:xfrm>
          <a:prstGeom prst="rect">
            <a:avLst/>
          </a:prstGeom>
          <a:solidFill>
            <a:srgbClr val="12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577340"/>
            <a:ext cx="968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微软雅黑"/>
              </a:rPr>
              <a:t>分期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4688" y="1577340"/>
            <a:ext cx="14255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微软雅黑"/>
              </a:rPr>
              <a:t>时间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9656" y="1577340"/>
            <a:ext cx="27049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微软雅黑"/>
              </a:rPr>
              <a:t>核心目标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4043" y="1577340"/>
            <a:ext cx="50809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微软雅黑"/>
              </a:rPr>
              <a:t>主要内容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1057839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071116"/>
            <a:ext cx="9685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急性期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4688" y="2071116"/>
            <a:ext cx="142551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发病 0—2 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9656" y="2071116"/>
            <a:ext cx="27049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生命体征稳定、并发症预防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4043" y="2071116"/>
            <a:ext cx="50809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良肢位摆放 · 被动 ROM · 床上翻身 · 呼吸训练 · 吞咽筛查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450592"/>
            <a:ext cx="11057839" cy="566928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2638044"/>
            <a:ext cx="9685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亚急性期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4688" y="2638044"/>
            <a:ext cx="142551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2 周—6 个月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9656" y="2638044"/>
            <a:ext cx="27049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功能恢复黄金窗口，强度最大化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4043" y="2638044"/>
            <a:ext cx="50809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坐站转移 · 平衡步行 · 上肢任务训练 · ADL 训练 · 言语治疗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017520"/>
            <a:ext cx="11057839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204972"/>
            <a:ext cx="9685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慢性期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64688" y="3204972"/>
            <a:ext cx="142551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6 个月以后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56" y="3204972"/>
            <a:ext cx="27049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维持功能、代偿与社会回归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4043" y="3204972"/>
            <a:ext cx="50809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家庭训练 · 辅具适配 · 环境改造 · 职业康复 · 二级预防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1481328"/>
            <a:ext cx="11057839" cy="2103120"/>
          </a:xfrm>
          <a:prstGeom prst="rect">
            <a:avLst/>
          </a:prstGeom>
          <a:noFill/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66928" y="3749039"/>
            <a:ext cx="5669280" cy="1316736"/>
          </a:xfrm>
          <a:prstGeom prst="roundRect">
            <a:avLst>
              <a:gd name="adj" fmla="val 5500"/>
            </a:avLst>
          </a:prstGeom>
          <a:solidFill>
            <a:srgbClr val="D6ECEB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749039"/>
            <a:ext cx="54864" cy="131673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3867911"/>
            <a:ext cx="52486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9B2C22"/>
                </a:solidFill>
                <a:latin typeface="微软雅黑"/>
              </a:rPr>
              <a:t>早期康复到底多早？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4160520"/>
            <a:ext cx="5248656" cy="80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50" b="0" i="0">
                <a:solidFill>
                  <a:srgbClr val="2C4455"/>
                </a:solidFill>
                <a:latin typeface="微软雅黑"/>
              </a:rPr>
              <a:t>AVERT 试验的关键教训：24 小时内超早期、高强度离床活动反而增加不良结局。
现行共识：生命体征稳定后 24—48 小时开始，以低强度、短时多次为原则，循序渐进。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3749039"/>
            <a:ext cx="5394960" cy="1316736"/>
          </a:xfrm>
          <a:prstGeom prst="roundRect">
            <a:avLst>
              <a:gd name="adj" fmla="val 5500"/>
            </a:avLst>
          </a:prstGeom>
          <a:solidFill>
            <a:srgbClr val="FDE6E3"/>
          </a:solidFill>
          <a:ln w="9525">
            <a:solidFill>
              <a:srgbClr val="E85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8" y="3749039"/>
            <a:ext cx="54864" cy="1316736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3952" y="3867911"/>
            <a:ext cx="49743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9B2C22"/>
                </a:solidFill>
                <a:latin typeface="微软雅黑"/>
              </a:rPr>
              <a:t>训练剂量是被低估的变量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4160520"/>
            <a:ext cx="4974336" cy="80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50" b="0" i="0">
                <a:solidFill>
                  <a:srgbClr val="2C4455"/>
                </a:solidFill>
                <a:latin typeface="微软雅黑"/>
              </a:rPr>
              <a:t>多数临床实践中患者每日有效训练时间不足 30 分钟，而循证推荐为每日至少 3 小时、每周 5 天。
剂量不足是疗效不佳的首要原因 —— 远超技术流派的差异。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5280659"/>
            <a:ext cx="118872" cy="118872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" y="523036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康复介入的绝对禁忌（需暂停）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" y="5559552"/>
            <a:ext cx="10783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400"/>
              </a:spcAft>
            </a:pPr>
            <a:r>
              <a:rPr sz="1050" b="0" i="0">
                <a:solidFill>
                  <a:srgbClr val="2C4455"/>
                </a:solidFill>
                <a:latin typeface="微软雅黑"/>
              </a:rPr>
              <a:t>意识水平进行性下降 · 血压 &gt;180/110 mmHg 或体位性低血压明显 · 静息心率 &gt;120 次/分 · 新发胸痛或严重心律失常 · 体温 &gt;38.5℃ · 急性深静脉血栓未抗凝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38251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  <a:spcAft>
                <a:spcPts val="400"/>
              </a:spcAft>
            </a:pPr>
            <a:r>
              <a:rPr sz="850" b="0" i="1">
                <a:solidFill>
                  <a:srgbClr val="96A4AE"/>
                </a:solidFill>
                <a:latin typeface="微软雅黑"/>
              </a:rPr>
              <a:t>参考：AVERT Trial (Lancet) / 中国脑卒中康复治疗指南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E7C7B"/>
                </a:solidFill>
                <a:latin typeface="微软雅黑"/>
              </a:rPr>
              <a:t>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0A1E2E"/>
                </a:solidFill>
                <a:latin typeface="微软雅黑"/>
              </a:rPr>
              <a:t>良肢位摆放：24 小时的隐形治疗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457200"/>
            <a:ext cx="128016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15039" y="457200"/>
            <a:ext cx="128016" cy="128016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26464"/>
            <a:ext cx="5669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2C4455"/>
                </a:solidFill>
                <a:latin typeface="微软雅黑"/>
              </a:rPr>
              <a:t>良肢位的本质是「抗痉挛体位」—— 通过持续对抗上肢屈肌、下肢伸肌的优势模式，预防挛缩与肩关节半脱位。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98548"/>
            <a:ext cx="118872" cy="11887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048256"/>
            <a:ext cx="5431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三种基本体位要点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95728"/>
            <a:ext cx="5669280" cy="384048"/>
          </a:xfrm>
          <a:prstGeom prst="rect">
            <a:avLst/>
          </a:prstGeom>
          <a:solidFill>
            <a:srgbClr val="12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82596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体位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73936" y="2482596"/>
            <a:ext cx="1609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作用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2482596"/>
            <a:ext cx="2523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关键细节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779776"/>
            <a:ext cx="566928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985516"/>
            <a:ext cx="877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患侧卧位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73936" y="2985516"/>
            <a:ext cx="1609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最佳体位，增加患侧感觉输入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736" y="2985516"/>
            <a:ext cx="25237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患肩前伸避免受压、肘伸腕背伸、健腿在前屈曲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83280"/>
            <a:ext cx="5669280" cy="603504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589020"/>
            <a:ext cx="877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健侧卧位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73936" y="3589020"/>
            <a:ext cx="1609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患侧上肢充分前伸支撑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2736" y="3589020"/>
            <a:ext cx="25237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患臂置枕上肩前屈约 90°、患腿屈髋屈膝置枕上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986784"/>
            <a:ext cx="566928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4192524"/>
            <a:ext cx="877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仰卧位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73936" y="4192524"/>
            <a:ext cx="1609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易强化异常模式，应尽量减少时间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2736" y="4192524"/>
            <a:ext cx="25237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患肩下垫枕防后缩、患髋下垫枕防外旋、足底禁用硬物顶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2395728"/>
            <a:ext cx="5669280" cy="2194560"/>
          </a:xfrm>
          <a:prstGeom prst="rect">
            <a:avLst/>
          </a:prstGeom>
          <a:noFill/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6928" y="4480560"/>
            <a:ext cx="5669280" cy="1481328"/>
          </a:xfrm>
          <a:prstGeom prst="roundRect">
            <a:avLst>
              <a:gd name="adj" fmla="val 5500"/>
            </a:avLst>
          </a:prstGeom>
          <a:solidFill>
            <a:srgbClr val="FDE6E3"/>
          </a:solidFill>
          <a:ln w="9525">
            <a:solidFill>
              <a:srgbClr val="E85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4480560"/>
            <a:ext cx="54864" cy="1481328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4599432"/>
            <a:ext cx="52486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9B2C22"/>
                </a:solidFill>
                <a:latin typeface="微软雅黑"/>
              </a:rPr>
              <a:t>两个高频错误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4892040"/>
            <a:ext cx="5248656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50" b="0" i="0">
                <a:solidFill>
                  <a:srgbClr val="2C4455"/>
                </a:solidFill>
                <a:latin typeface="微软雅黑"/>
              </a:rPr>
              <a:t>① 足底放硬物「防足下垂」：反而通过阳性支持反射加重跖屈痉挛
② 患手握毛巾卷：持续压迫掌心刺激抓握反射，加重手指屈曲
正确做法：使用分指板、踝足矫形器，保持腕背伸、指伸展位。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10528" y="1426464"/>
            <a:ext cx="5111496" cy="277977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56832" y="1508760"/>
            <a:ext cx="36484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A1E2E"/>
                </a:solidFill>
                <a:latin typeface="微软雅黑"/>
              </a:rPr>
              <a:t>良肢位摆放三视图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40696" y="1568196"/>
            <a:ext cx="155448" cy="82296"/>
          </a:xfrm>
          <a:prstGeom prst="roundRect">
            <a:avLst>
              <a:gd name="adj" fmla="val 40000"/>
            </a:avLst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32720" y="1508760"/>
            <a:ext cx="4023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0" i="0">
                <a:solidFill>
                  <a:srgbClr val="5A6B78"/>
                </a:solidFill>
                <a:latin typeface="微软雅黑"/>
              </a:rPr>
              <a:t>患侧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744200" y="1568196"/>
            <a:ext cx="155448" cy="82296"/>
          </a:xfrm>
          <a:prstGeom prst="roundRect">
            <a:avLst>
              <a:gd name="adj" fmla="val 40000"/>
            </a:avLst>
          </a:prstGeom>
          <a:solidFill>
            <a:srgbClr val="8CA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36224" y="1508760"/>
            <a:ext cx="40233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800" b="0" i="0">
                <a:solidFill>
                  <a:srgbClr val="5A6B78"/>
                </a:solidFill>
                <a:latin typeface="微软雅黑"/>
              </a:rPr>
              <a:t>健侧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38544" y="2377439"/>
            <a:ext cx="4855464" cy="91440"/>
          </a:xfrm>
          <a:prstGeom prst="roundRect">
            <a:avLst>
              <a:gd name="adj" fmla="val 30000"/>
            </a:avLst>
          </a:prstGeom>
          <a:solidFill>
            <a:srgbClr val="E4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656832" y="1847088"/>
            <a:ext cx="50292" cy="457199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84848" y="1819656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19" b="1" i="0">
                <a:solidFill>
                  <a:srgbClr val="0A1E2E"/>
                </a:solidFill>
                <a:latin typeface="微软雅黑"/>
              </a:rPr>
              <a:t>患侧卧位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84848" y="2011680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760" b="0" i="0">
                <a:solidFill>
                  <a:srgbClr val="5A6B78"/>
                </a:solidFill>
                <a:latin typeface="微软雅黑"/>
              </a:rPr>
              <a:t>最佳 · 增加患侧感觉输入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30714" y="1748332"/>
            <a:ext cx="570585" cy="190195"/>
          </a:xfrm>
          <a:prstGeom prst="roundRect">
            <a:avLst>
              <a:gd name="adj" fmla="val 40000"/>
            </a:avLst>
          </a:prstGeom>
          <a:solidFill>
            <a:srgbClr val="F2D99C"/>
          </a:solidFill>
          <a:ln w="7620">
            <a:solidFill>
              <a:srgbClr val="E8C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560051" y="2304287"/>
            <a:ext cx="453542" cy="175564"/>
          </a:xfrm>
          <a:prstGeom prst="roundRect">
            <a:avLst>
              <a:gd name="adj" fmla="val 40000"/>
            </a:avLst>
          </a:prstGeom>
          <a:solidFill>
            <a:srgbClr val="F2D99C"/>
          </a:solidFill>
          <a:ln w="7620">
            <a:solidFill>
              <a:srgbClr val="E8C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99348" y="1901951"/>
            <a:ext cx="219455" cy="219455"/>
          </a:xfrm>
          <a:prstGeom prst="ellipse">
            <a:avLst/>
          </a:prstGeom>
          <a:solidFill>
            <a:srgbClr val="8CA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755380" y="1850745"/>
            <a:ext cx="877823" cy="365759"/>
          </a:xfrm>
          <a:prstGeom prst="roundRect">
            <a:avLst>
              <a:gd name="adj" fmla="val 25000"/>
            </a:avLst>
          </a:prstGeom>
          <a:solidFill>
            <a:srgbClr val="8CA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 rot="20045610">
            <a:off x="8909656" y="1837944"/>
            <a:ext cx="569271" cy="69494"/>
          </a:xfrm>
          <a:prstGeom prst="roundRect">
            <a:avLst>
              <a:gd name="adj" fmla="val 50000"/>
            </a:avLst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 rot="360540">
            <a:off x="9449172" y="1739188"/>
            <a:ext cx="419270" cy="62179"/>
          </a:xfrm>
          <a:prstGeom prst="roundRect">
            <a:avLst>
              <a:gd name="adj" fmla="val 50000"/>
            </a:avLst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 rot="20006097">
            <a:off x="9534148" y="1951329"/>
            <a:ext cx="490718" cy="76809"/>
          </a:xfrm>
          <a:prstGeom prst="roundRect">
            <a:avLst>
              <a:gd name="adj" fmla="val 50000"/>
            </a:avLst>
          </a:prstGeom>
          <a:solidFill>
            <a:srgbClr val="8CA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 rot="2448905">
            <a:off x="9947253" y="1984248"/>
            <a:ext cx="425289" cy="69494"/>
          </a:xfrm>
          <a:prstGeom prst="roundRect">
            <a:avLst>
              <a:gd name="adj" fmla="val 50000"/>
            </a:avLst>
          </a:prstGeom>
          <a:solidFill>
            <a:srgbClr val="8CA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 rot="258962">
            <a:off x="9558949" y="2179929"/>
            <a:ext cx="777616" cy="73152"/>
          </a:xfrm>
          <a:prstGeom prst="roundRect">
            <a:avLst>
              <a:gd name="adj" fmla="val 50000"/>
            </a:avLst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638544" y="3145535"/>
            <a:ext cx="4855464" cy="91440"/>
          </a:xfrm>
          <a:prstGeom prst="roundRect">
            <a:avLst>
              <a:gd name="adj" fmla="val 30000"/>
            </a:avLst>
          </a:prstGeom>
          <a:solidFill>
            <a:srgbClr val="E4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656832" y="2615184"/>
            <a:ext cx="50292" cy="457199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84848" y="2587751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19" b="1" i="0">
                <a:solidFill>
                  <a:srgbClr val="0A1E2E"/>
                </a:solidFill>
                <a:latin typeface="微软雅黑"/>
              </a:rPr>
              <a:t>健侧卧位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84848" y="2779776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760" b="0" i="0">
                <a:solidFill>
                  <a:srgbClr val="5A6B78"/>
                </a:solidFill>
                <a:latin typeface="微软雅黑"/>
              </a:rPr>
              <a:t>患臂前伸置枕上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742932" y="2340863"/>
            <a:ext cx="672998" cy="190195"/>
          </a:xfrm>
          <a:prstGeom prst="roundRect">
            <a:avLst>
              <a:gd name="adj" fmla="val 40000"/>
            </a:avLst>
          </a:prstGeom>
          <a:solidFill>
            <a:srgbClr val="F2D99C"/>
          </a:solidFill>
          <a:ln w="7620">
            <a:solidFill>
              <a:srgbClr val="E8C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925811" y="2735884"/>
            <a:ext cx="585216" cy="175564"/>
          </a:xfrm>
          <a:prstGeom prst="roundRect">
            <a:avLst>
              <a:gd name="adj" fmla="val 40000"/>
            </a:avLst>
          </a:prstGeom>
          <a:solidFill>
            <a:srgbClr val="F2D99C"/>
          </a:solidFill>
          <a:ln w="7620">
            <a:solidFill>
              <a:srgbClr val="E8C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499348" y="2670047"/>
            <a:ext cx="219455" cy="219455"/>
          </a:xfrm>
          <a:prstGeom prst="ellipse">
            <a:avLst/>
          </a:prstGeom>
          <a:solidFill>
            <a:srgbClr val="8CA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755380" y="2618841"/>
            <a:ext cx="877823" cy="365759"/>
          </a:xfrm>
          <a:prstGeom prst="roundRect">
            <a:avLst>
              <a:gd name="adj" fmla="val 25000"/>
            </a:avLst>
          </a:prstGeom>
          <a:solidFill>
            <a:srgbClr val="8CA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 rot="1051534">
            <a:off x="9546520" y="2948025"/>
            <a:ext cx="583017" cy="73152"/>
          </a:xfrm>
          <a:prstGeom prst="roundRect">
            <a:avLst>
              <a:gd name="adj" fmla="val 50000"/>
            </a:avLst>
          </a:prstGeom>
          <a:solidFill>
            <a:srgbClr val="8CA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 rot="19600423">
            <a:off x="8885711" y="2598724"/>
            <a:ext cx="639107" cy="69494"/>
          </a:xfrm>
          <a:prstGeom prst="roundRect">
            <a:avLst>
              <a:gd name="adj" fmla="val 50000"/>
            </a:avLst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 rot="21297453">
            <a:off x="9471303" y="2404872"/>
            <a:ext cx="499366" cy="62179"/>
          </a:xfrm>
          <a:prstGeom prst="roundRect">
            <a:avLst>
              <a:gd name="adj" fmla="val 50000"/>
            </a:avLst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 rot="20273433">
            <a:off x="9556103" y="2660904"/>
            <a:ext cx="505331" cy="76809"/>
          </a:xfrm>
          <a:prstGeom prst="roundRect">
            <a:avLst>
              <a:gd name="adj" fmla="val 50000"/>
            </a:avLst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 rot="2357364">
            <a:off x="9995852" y="2701137"/>
            <a:ext cx="415874" cy="69494"/>
          </a:xfrm>
          <a:prstGeom prst="roundRect">
            <a:avLst>
              <a:gd name="adj" fmla="val 50000"/>
            </a:avLst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638544" y="3913631"/>
            <a:ext cx="4855464" cy="91440"/>
          </a:xfrm>
          <a:prstGeom prst="roundRect">
            <a:avLst>
              <a:gd name="adj" fmla="val 30000"/>
            </a:avLst>
          </a:prstGeom>
          <a:solidFill>
            <a:srgbClr val="E4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656832" y="3383279"/>
            <a:ext cx="50292" cy="457199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84848" y="3355847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19" b="1" i="0">
                <a:solidFill>
                  <a:srgbClr val="0A1E2E"/>
                </a:solidFill>
                <a:latin typeface="微软雅黑"/>
              </a:rPr>
              <a:t>仰卧位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84848" y="3547872"/>
            <a:ext cx="1417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760" b="0" i="0">
                <a:solidFill>
                  <a:srgbClr val="5A6B78"/>
                </a:solidFill>
                <a:latin typeface="微软雅黑"/>
              </a:rPr>
              <a:t>易强化异常模式 · 尽量少用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121140" y="3050438"/>
            <a:ext cx="585216" cy="175564"/>
          </a:xfrm>
          <a:prstGeom prst="roundRect">
            <a:avLst>
              <a:gd name="adj" fmla="val 40000"/>
            </a:avLst>
          </a:prstGeom>
          <a:solidFill>
            <a:srgbClr val="F2D99C"/>
          </a:solidFill>
          <a:ln w="7620">
            <a:solidFill>
              <a:srgbClr val="E8C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9742932" y="3840479"/>
            <a:ext cx="526694" cy="175564"/>
          </a:xfrm>
          <a:prstGeom prst="roundRect">
            <a:avLst>
              <a:gd name="adj" fmla="val 40000"/>
            </a:avLst>
          </a:prstGeom>
          <a:solidFill>
            <a:srgbClr val="F2D99C"/>
          </a:solidFill>
          <a:ln w="7620">
            <a:solidFill>
              <a:srgbClr val="E8C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462772" y="3511295"/>
            <a:ext cx="219455" cy="219455"/>
          </a:xfrm>
          <a:prstGeom prst="ellipse">
            <a:avLst/>
          </a:prstGeom>
          <a:solidFill>
            <a:srgbClr val="8CA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718804" y="3430828"/>
            <a:ext cx="914399" cy="380390"/>
          </a:xfrm>
          <a:prstGeom prst="roundRect">
            <a:avLst>
              <a:gd name="adj" fmla="val 25000"/>
            </a:avLst>
          </a:prstGeom>
          <a:solidFill>
            <a:srgbClr val="8CA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 rot="19454767">
            <a:off x="8837267" y="3277209"/>
            <a:ext cx="450701" cy="73152"/>
          </a:xfrm>
          <a:prstGeom prst="roundRect">
            <a:avLst>
              <a:gd name="adj" fmla="val 50000"/>
            </a:avLst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 rot="20848272">
            <a:off x="9240680" y="3105302"/>
            <a:ext cx="404656" cy="65836"/>
          </a:xfrm>
          <a:prstGeom prst="roundRect">
            <a:avLst>
              <a:gd name="adj" fmla="val 50000"/>
            </a:avLst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 rot="1546160">
            <a:off x="8856311" y="3862425"/>
            <a:ext cx="471135" cy="73152"/>
          </a:xfrm>
          <a:prstGeom prst="roundRect">
            <a:avLst>
              <a:gd name="adj" fmla="val 50000"/>
            </a:avLst>
          </a:prstGeom>
          <a:solidFill>
            <a:srgbClr val="8CA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 rot="21357737">
            <a:off x="9595854" y="3412540"/>
            <a:ext cx="623339" cy="80467"/>
          </a:xfrm>
          <a:prstGeom prst="roundRect">
            <a:avLst>
              <a:gd name="adj" fmla="val 50000"/>
            </a:avLst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 rot="161657">
            <a:off x="9596283" y="3741724"/>
            <a:ext cx="622480" cy="80467"/>
          </a:xfrm>
          <a:prstGeom prst="roundRect">
            <a:avLst>
              <a:gd name="adj" fmla="val 50000"/>
            </a:avLst>
          </a:prstGeom>
          <a:solidFill>
            <a:srgbClr val="8CA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56832" y="4023359"/>
            <a:ext cx="48188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760" b="0" i="0">
                <a:solidFill>
                  <a:srgbClr val="0E7C7B"/>
                </a:solidFill>
                <a:latin typeface="微软雅黑"/>
              </a:rPr>
              <a:t>黄色为支撑枕头位置 · 每 2 小时变换体位一次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510528" y="4352544"/>
            <a:ext cx="5111496" cy="1609344"/>
          </a:xfrm>
          <a:prstGeom prst="roundRect">
            <a:avLst>
              <a:gd name="adj" fmla="val 5500"/>
            </a:avLst>
          </a:prstGeom>
          <a:solidFill>
            <a:srgbClr val="D6ECEB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10528" y="4352544"/>
            <a:ext cx="54864" cy="160934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748272" y="4471416"/>
            <a:ext cx="46908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9B2C22"/>
                </a:solidFill>
                <a:latin typeface="微软雅黑"/>
              </a:rPr>
              <a:t>肩关节半脱位的防治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748272" y="4764024"/>
            <a:ext cx="46908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00" b="0" i="0">
                <a:solidFill>
                  <a:srgbClr val="2C4455"/>
                </a:solidFill>
                <a:latin typeface="微软雅黑"/>
              </a:rPr>
              <a:t>弛缓期肩周肌群失去张力，肱骨头因重力下移，发生率达 60—80%。
防：转移时严禁牵拉患侧上肢；坐位时用桌面或轮椅扶手托起前臂；
治：肩托（短期）、电刺激冈上肌与三角肌、主动肌力训练。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6928" y="638251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  <a:spcAft>
                <a:spcPts val="400"/>
              </a:spcAft>
            </a:pPr>
            <a:r>
              <a:rPr sz="850" b="0" i="1">
                <a:solidFill>
                  <a:srgbClr val="96A4AE"/>
                </a:solidFill>
                <a:latin typeface="微软雅黑"/>
              </a:rPr>
              <a:t>良肢位每 2 小时变换一次，同时完成压疮风险评估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E7C7B"/>
                </a:solidFill>
                <a:latin typeface="微软雅黑"/>
              </a:rPr>
              <a:t>FACILITATION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0A1E2E"/>
                </a:solidFill>
                <a:latin typeface="微软雅黑"/>
              </a:rPr>
              <a:t>神经促进技术：流派与现代取舍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457200"/>
            <a:ext cx="128016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15039" y="457200"/>
            <a:ext cx="128016" cy="128016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6675120" cy="402336"/>
          </a:xfrm>
          <a:prstGeom prst="rect">
            <a:avLst/>
          </a:prstGeom>
          <a:solidFill>
            <a:srgbClr val="12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577340"/>
            <a:ext cx="969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微软雅黑"/>
              </a:rPr>
              <a:t>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577340"/>
            <a:ext cx="23408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微软雅黑"/>
              </a:rPr>
              <a:t>核心理念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5696" y="1577340"/>
            <a:ext cx="27066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微软雅黑"/>
              </a:rPr>
              <a:t>代表手法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83664"/>
            <a:ext cx="66751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071116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Bobath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65376" y="2071116"/>
            <a:ext cx="234086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抑制异常模式，促通正常运动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2071116"/>
            <a:ext cx="2706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关键点控制、反射抑制模式、感觉输入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450592"/>
            <a:ext cx="6675120" cy="566928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638044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Brunnstrom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638044"/>
            <a:ext cx="234086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早期利用共同运动，再逐步分离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5696" y="2638044"/>
            <a:ext cx="2706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联合反应诱发、由粗大向精细过渡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017520"/>
            <a:ext cx="66751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3204972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PNF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65376" y="3204972"/>
            <a:ext cx="234086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螺旋对角线运动模式 + 本体感觉易化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5696" y="3204972"/>
            <a:ext cx="2706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牵张、最大阻力、节律性稳定、收缩-放松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584448"/>
            <a:ext cx="6675120" cy="566928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3771899"/>
            <a:ext cx="9692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Rood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65376" y="3771899"/>
            <a:ext cx="234086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多重感觉刺激调节肌张力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5696" y="3771899"/>
            <a:ext cx="2706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快速刷擦、冰刺激、轻叩、加压、牵拉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1481328"/>
            <a:ext cx="6675120" cy="2670048"/>
          </a:xfrm>
          <a:prstGeom prst="rect">
            <a:avLst/>
          </a:prstGeom>
          <a:noFill/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66928" y="4187952"/>
            <a:ext cx="6675120" cy="1737360"/>
          </a:xfrm>
          <a:prstGeom prst="roundRect">
            <a:avLst>
              <a:gd name="adj" fmla="val 5500"/>
            </a:avLst>
          </a:prstGeom>
          <a:solidFill>
            <a:srgbClr val="D6ECEB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4187952"/>
            <a:ext cx="54864" cy="173736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4306824"/>
            <a:ext cx="62544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9B2C22"/>
                </a:solidFill>
                <a:latin typeface="微软雅黑"/>
              </a:rPr>
              <a:t>循证时代的冷静判断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4599432"/>
            <a:ext cx="6254496" cy="12252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50" b="0" i="0">
                <a:solidFill>
                  <a:srgbClr val="2C4455"/>
                </a:solidFill>
                <a:latin typeface="微软雅黑"/>
              </a:rPr>
              <a:t>多项系统评价显示：各流派之间的疗效差异并不显著，真正起决定作用的是训练强度、任务特异性与主动参与度。
现代实践倾向：以任务导向训练（TOT）为主轴，把各流派手法作为解决具体问题的工具而非信仰。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24927" y="1495044"/>
            <a:ext cx="118872" cy="118872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62671" y="1444752"/>
            <a:ext cx="3959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运动学习四要素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24927" y="1792224"/>
            <a:ext cx="4197096" cy="6035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5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543800" y="1979676"/>
            <a:ext cx="228600" cy="228600"/>
          </a:xfrm>
          <a:prstGeom prst="ellipse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43800" y="1975104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1874520"/>
            <a:ext cx="3648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2C4455"/>
                </a:solidFill>
                <a:latin typeface="微软雅黑"/>
              </a:rPr>
              <a:t>任务特异性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2084832"/>
            <a:ext cx="3648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练什么才会什么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58100" y="2395728"/>
            <a:ext cx="27432" cy="137160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424927" y="2532888"/>
            <a:ext cx="4197096" cy="6035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5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543800" y="2720340"/>
            <a:ext cx="228600" cy="228600"/>
          </a:xfrm>
          <a:prstGeom prst="ellipse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43800" y="271576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2615184"/>
            <a:ext cx="3648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2C4455"/>
                </a:solidFill>
                <a:latin typeface="微软雅黑"/>
              </a:rPr>
              <a:t>重复强化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2825496"/>
            <a:ext cx="3648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高重复量驱动可塑性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58100" y="3136392"/>
            <a:ext cx="27432" cy="137160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424927" y="3273552"/>
            <a:ext cx="4197096" cy="6035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5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543800" y="3461004"/>
            <a:ext cx="228600" cy="228600"/>
          </a:xfrm>
          <a:prstGeom prst="ellipse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43800" y="3456432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63840" y="3355848"/>
            <a:ext cx="3648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2C4455"/>
                </a:solidFill>
                <a:latin typeface="微软雅黑"/>
              </a:rPr>
              <a:t>主动参与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63840" y="3566160"/>
            <a:ext cx="3648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被动活动不产生学习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58100" y="3877056"/>
            <a:ext cx="27432" cy="137160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424927" y="4014216"/>
            <a:ext cx="4197096" cy="6035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5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543800" y="4201668"/>
            <a:ext cx="228600" cy="228600"/>
          </a:xfrm>
          <a:prstGeom prst="ellipse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43800" y="4197096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63840" y="4096512"/>
            <a:ext cx="3648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2C4455"/>
                </a:solidFill>
                <a:latin typeface="微软雅黑"/>
              </a:rPr>
              <a:t>即时反馈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4306824"/>
            <a:ext cx="3648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视觉、听觉、触觉多通道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424927" y="4425696"/>
            <a:ext cx="4197096" cy="1499616"/>
          </a:xfrm>
          <a:prstGeom prst="roundRect">
            <a:avLst>
              <a:gd name="adj" fmla="val 5500"/>
            </a:avLst>
          </a:prstGeom>
          <a:solidFill>
            <a:srgbClr val="FDE6E3"/>
          </a:solidFill>
          <a:ln w="9525">
            <a:solidFill>
              <a:srgbClr val="E85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424927" y="4425696"/>
            <a:ext cx="54864" cy="1499616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62671" y="4544568"/>
            <a:ext cx="3776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9B2C22"/>
                </a:solidFill>
                <a:latin typeface="微软雅黑"/>
              </a:rPr>
              <a:t>临床提醒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62671" y="4837176"/>
            <a:ext cx="3776472" cy="9875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00" b="0" i="0">
                <a:solidFill>
                  <a:srgbClr val="2C4455"/>
                </a:solidFill>
                <a:latin typeface="微软雅黑"/>
              </a:rPr>
              <a:t>「治疗师做得多，患者学得少」是常见陷阱。
手法治疗应服务于患者自主运动的诱发，而不是替代患者完成动作。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" y="638251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  <a:spcAft>
                <a:spcPts val="400"/>
              </a:spcAft>
            </a:pPr>
            <a:r>
              <a:rPr sz="850" b="0" i="1">
                <a:solidFill>
                  <a:srgbClr val="96A4AE"/>
                </a:solidFill>
                <a:latin typeface="微软雅黑"/>
              </a:rPr>
              <a:t>技术选择应基于患者问题清单，而非治疗师的流派偏好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E7C7B"/>
                </a:solidFill>
                <a:latin typeface="微软雅黑"/>
              </a:rPr>
              <a:t>SPASTICITY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0A1E2E"/>
                </a:solidFill>
                <a:latin typeface="微软雅黑"/>
              </a:rPr>
              <a:t>痉挛的阶梯化管理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457200"/>
            <a:ext cx="128016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15039" y="457200"/>
            <a:ext cx="128016" cy="128016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5760720" cy="5852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659636"/>
            <a:ext cx="228600" cy="2286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55064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563624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2C4455"/>
                </a:solidFill>
                <a:latin typeface="微软雅黑"/>
              </a:rPr>
              <a:t>第一步 · 消除诱因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773936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感染、结石、便秘、压疮、疼痛、不良体位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" y="2066544"/>
            <a:ext cx="27432" cy="128016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2194560"/>
            <a:ext cx="5760720" cy="5852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5800" y="2372868"/>
            <a:ext cx="228600" cy="2286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368296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276856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2C4455"/>
                </a:solidFill>
                <a:latin typeface="微软雅黑"/>
              </a:rPr>
              <a:t>第二步 · 物理治疗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487168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牵伸、体位管理、冷疗、振动、站立训练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" y="2779776"/>
            <a:ext cx="27432" cy="128016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2907792"/>
            <a:ext cx="5760720" cy="5852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3086100"/>
            <a:ext cx="228600" cy="2286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08152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2990088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2C4455"/>
                </a:solidFill>
                <a:latin typeface="微软雅黑"/>
              </a:rPr>
              <a:t>第三步 · 矫形器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200400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踝足矫形器、分指板、系列石膏渐进牵伸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" y="3493008"/>
            <a:ext cx="27432" cy="128016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66928" y="3621024"/>
            <a:ext cx="5760720" cy="5852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5800" y="3799332"/>
            <a:ext cx="228600" cy="2286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79476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703320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2C4455"/>
                </a:solidFill>
                <a:latin typeface="微软雅黑"/>
              </a:rPr>
              <a:t>第四步 · 口服药物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3913632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巴氯芬、替扎尼定、加巴喷丁（注意镇静副作用）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100" y="4206240"/>
            <a:ext cx="27432" cy="128016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66928" y="4334256"/>
            <a:ext cx="5760720" cy="5852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5800" y="4512564"/>
            <a:ext cx="228600" cy="2286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507992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4416552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2C4455"/>
                </a:solidFill>
                <a:latin typeface="微软雅黑"/>
              </a:rPr>
              <a:t>第五步 · 局部注射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4626864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A 型肉毒毒素，超声/电刺激定位，3—6 月重复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0100" y="4919472"/>
            <a:ext cx="27432" cy="128016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66928" y="5047488"/>
            <a:ext cx="5760720" cy="5852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85800" y="5225796"/>
            <a:ext cx="228600" cy="2286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221224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129784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2C4455"/>
                </a:solidFill>
                <a:latin typeface="微软雅黑"/>
              </a:rPr>
              <a:t>第六步 · 外科手术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5340096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选择性脊神经后根切断、肌腱延长、鞘内巴氯芬泵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10528" y="1481328"/>
            <a:ext cx="5111496" cy="1938528"/>
          </a:xfrm>
          <a:prstGeom prst="roundRect">
            <a:avLst>
              <a:gd name="adj" fmla="val 5500"/>
            </a:avLst>
          </a:prstGeom>
          <a:solidFill>
            <a:srgbClr val="D6ECEB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10528" y="1481328"/>
            <a:ext cx="54864" cy="193852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48272" y="1600200"/>
            <a:ext cx="46908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9B2C22"/>
                </a:solidFill>
                <a:latin typeface="微软雅黑"/>
              </a:rPr>
              <a:t>肉毒毒素的临床要点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48272" y="1892808"/>
            <a:ext cx="4690872" cy="1426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50" b="0" i="0">
                <a:solidFill>
                  <a:srgbClr val="2C4455"/>
                </a:solidFill>
                <a:latin typeface="微软雅黑"/>
              </a:rPr>
              <a:t>适应证：局灶性痉挛妨碍功能或护理（如手指紧握无法清洁）
起效：3—7 天，2—4 周达峰，维持 3—4 个月
关键：注射后必须配合牵伸与任务训练 —— 单纯注射不会自动带来功能改善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10528" y="3634740"/>
            <a:ext cx="118872" cy="118872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48272" y="3584448"/>
            <a:ext cx="4873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牵伸的正确做法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01968" y="3931920"/>
            <a:ext cx="4937760" cy="1140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050" b="1">
                <a:solidFill>
                  <a:srgbClr val="E85A4F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时间优于强度：</a:t>
            </a:r>
            <a:r>
              <a:rPr sz="1050">
                <a:solidFill>
                  <a:srgbClr val="5A6B78"/>
                </a:solidFill>
                <a:latin typeface="微软雅黑"/>
              </a:rPr>
              <a:t>持续 30 秒以上低强度牵伸，每组 3—5 次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050" b="1">
                <a:solidFill>
                  <a:srgbClr val="E85A4F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避免暴力：</a:t>
            </a:r>
            <a:r>
              <a:rPr sz="1050">
                <a:solidFill>
                  <a:srgbClr val="5A6B78"/>
                </a:solidFill>
                <a:latin typeface="微软雅黑"/>
              </a:rPr>
              <a:t>剧痛会引发保护性收缩，适得其反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050" b="1">
                <a:solidFill>
                  <a:srgbClr val="E85A4F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全天分布：</a:t>
            </a:r>
            <a:r>
              <a:rPr sz="1050">
                <a:solidFill>
                  <a:srgbClr val="5A6B78"/>
                </a:solidFill>
                <a:latin typeface="微软雅黑"/>
              </a:rPr>
              <a:t>每日累计牵伸时间比单次时长更重要</a:t>
            </a:r>
          </a:p>
          <a:p>
            <a:pPr>
              <a:lnSpc>
                <a:spcPct val="130000"/>
              </a:lnSpc>
              <a:spcAft>
                <a:spcPts val="700"/>
              </a:spcAft>
            </a:pPr>
            <a:r>
              <a:rPr sz="1050" b="1">
                <a:solidFill>
                  <a:srgbClr val="E85A4F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配合负重：</a:t>
            </a:r>
            <a:r>
              <a:rPr sz="1050">
                <a:solidFill>
                  <a:srgbClr val="5A6B78"/>
                </a:solidFill>
                <a:latin typeface="微软雅黑"/>
              </a:rPr>
              <a:t>站立架、坐位患侧负重可整体降张力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638251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  <a:spcAft>
                <a:spcPts val="400"/>
              </a:spcAft>
            </a:pPr>
            <a:r>
              <a:rPr sz="850" b="0" i="1">
                <a:solidFill>
                  <a:srgbClr val="96A4AE"/>
                </a:solidFill>
                <a:latin typeface="微软雅黑"/>
              </a:rPr>
              <a:t>管理目标始终是功能改善与护理便利，而非量表数字下降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E7C7B"/>
                </a:solidFill>
                <a:latin typeface="微软雅黑"/>
              </a:rPr>
              <a:t>FUNCTIONAL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0A1E2E"/>
                </a:solidFill>
                <a:latin typeface="微软雅黑"/>
              </a:rPr>
              <a:t>核心功能训练：上肢、下肢与 ADL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457200"/>
            <a:ext cx="128016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15039" y="457200"/>
            <a:ext cx="128016" cy="128016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95044"/>
            <a:ext cx="118872" cy="11887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444752"/>
            <a:ext cx="3419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上肢与手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73936"/>
            <a:ext cx="3566160" cy="1339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 b="1">
                <a:solidFill>
                  <a:srgbClr val="0E7C7B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肩胛带先行：</a:t>
            </a:r>
            <a:r>
              <a:rPr sz="1050">
                <a:solidFill>
                  <a:srgbClr val="5A6B78"/>
                </a:solidFill>
                <a:latin typeface="微软雅黑"/>
              </a:rPr>
              <a:t>肩胛稳定是上肢活动的基础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 b="1">
                <a:solidFill>
                  <a:srgbClr val="0E7C7B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够取训练：</a:t>
            </a:r>
            <a:r>
              <a:rPr sz="1050">
                <a:solidFill>
                  <a:srgbClr val="5A6B78"/>
                </a:solidFill>
                <a:latin typeface="微软雅黑"/>
              </a:rPr>
              <a:t>不同方向、高度、距离的目标物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 b="1">
                <a:solidFill>
                  <a:srgbClr val="0E7C7B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抓握释放：</a:t>
            </a:r>
            <a:r>
              <a:rPr sz="1050">
                <a:solidFill>
                  <a:srgbClr val="5A6B78"/>
                </a:solidFill>
                <a:latin typeface="微软雅黑"/>
              </a:rPr>
              <a:t>释放比抓握更难，重点训练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 b="1">
                <a:solidFill>
                  <a:srgbClr val="0E7C7B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双侧对称训练：</a:t>
            </a:r>
            <a:r>
              <a:rPr sz="1050">
                <a:solidFill>
                  <a:srgbClr val="5A6B78"/>
                </a:solidFill>
                <a:latin typeface="微软雅黑"/>
              </a:rPr>
              <a:t>健侧带动患侧，激活同源运动区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 b="1">
                <a:solidFill>
                  <a:srgbClr val="0E7C7B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CIMT：</a:t>
            </a:r>
            <a:r>
              <a:rPr sz="1050">
                <a:solidFill>
                  <a:srgbClr val="5A6B78"/>
                </a:solidFill>
                <a:latin typeface="微软雅黑"/>
              </a:rPr>
              <a:t>限制健侧，每日强化患侧 3—6 小时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495044"/>
            <a:ext cx="118872" cy="118872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444752"/>
            <a:ext cx="3419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下肢与步行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1773936"/>
            <a:ext cx="3566160" cy="1339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 b="1">
                <a:solidFill>
                  <a:srgbClr val="E85A4F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桥式运动：</a:t>
            </a:r>
            <a:r>
              <a:rPr sz="1050">
                <a:solidFill>
                  <a:srgbClr val="5A6B78"/>
                </a:solidFill>
                <a:latin typeface="微软雅黑"/>
              </a:rPr>
              <a:t>激活臀肌与核心，为转移做准备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 b="1">
                <a:solidFill>
                  <a:srgbClr val="E85A4F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坐站转移：</a:t>
            </a:r>
            <a:r>
              <a:rPr sz="1050">
                <a:solidFill>
                  <a:srgbClr val="5A6B78"/>
                </a:solidFill>
                <a:latin typeface="微软雅黑"/>
              </a:rPr>
              <a:t>重心前移、双足对称负重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 b="1">
                <a:solidFill>
                  <a:srgbClr val="E85A4F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患侧负重：</a:t>
            </a:r>
            <a:r>
              <a:rPr sz="1050">
                <a:solidFill>
                  <a:srgbClr val="5A6B78"/>
                </a:solidFill>
                <a:latin typeface="微软雅黑"/>
              </a:rPr>
              <a:t>站立位重心左右转移训练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 b="1">
                <a:solidFill>
                  <a:srgbClr val="E85A4F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减重步行：</a:t>
            </a:r>
            <a:r>
              <a:rPr sz="1050">
                <a:solidFill>
                  <a:srgbClr val="5A6B78"/>
                </a:solidFill>
                <a:latin typeface="微软雅黑"/>
              </a:rPr>
              <a:t>早期安全地获得高重复步态输入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 b="1">
                <a:solidFill>
                  <a:srgbClr val="E85A4F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跨步与上下台阶：</a:t>
            </a:r>
            <a:r>
              <a:rPr sz="1050">
                <a:solidFill>
                  <a:srgbClr val="5A6B78"/>
                </a:solidFill>
                <a:latin typeface="微软雅黑"/>
              </a:rPr>
              <a:t>为社区行走做准备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5008" y="1495044"/>
            <a:ext cx="118872" cy="118872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444752"/>
            <a:ext cx="3328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作业与 ADL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1773936"/>
            <a:ext cx="3474720" cy="1339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 b="1">
                <a:solidFill>
                  <a:srgbClr val="D99A2B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穿衣原则：</a:t>
            </a:r>
            <a:r>
              <a:rPr sz="1050">
                <a:solidFill>
                  <a:srgbClr val="5A6B78"/>
                </a:solidFill>
                <a:latin typeface="微软雅黑"/>
              </a:rPr>
              <a:t>患侧先穿、健侧先脱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 b="1">
                <a:solidFill>
                  <a:srgbClr val="D99A2B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进食训练：</a:t>
            </a:r>
            <a:r>
              <a:rPr sz="1050">
                <a:solidFill>
                  <a:srgbClr val="5A6B78"/>
                </a:solidFill>
                <a:latin typeface="微软雅黑"/>
              </a:rPr>
              <a:t>防滑垫、加粗手柄、弯柄勺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 b="1">
                <a:solidFill>
                  <a:srgbClr val="D99A2B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如厕与洗澡：</a:t>
            </a:r>
            <a:r>
              <a:rPr sz="1050">
                <a:solidFill>
                  <a:srgbClr val="5A6B78"/>
                </a:solidFill>
                <a:latin typeface="微软雅黑"/>
              </a:rPr>
              <a:t>扶手、沐浴椅、防滑垫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 b="1">
                <a:solidFill>
                  <a:srgbClr val="D99A2B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环境改造：</a:t>
            </a:r>
            <a:r>
              <a:rPr sz="1050">
                <a:solidFill>
                  <a:srgbClr val="5A6B78"/>
                </a:solidFill>
                <a:latin typeface="微软雅黑"/>
              </a:rPr>
              <a:t>去除门槛、加装扶手、移除地毯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050" b="1">
                <a:solidFill>
                  <a:srgbClr val="D99A2B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家属培训：</a:t>
            </a:r>
            <a:r>
              <a:rPr sz="1050">
                <a:solidFill>
                  <a:srgbClr val="5A6B78"/>
                </a:solidFill>
                <a:latin typeface="微软雅黑"/>
              </a:rPr>
              <a:t>转移技巧与安全防护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890772"/>
            <a:ext cx="118872" cy="11887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8404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现代循证技术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187952"/>
            <a:ext cx="11057839" cy="329184"/>
          </a:xfrm>
          <a:prstGeom prst="rect">
            <a:avLst/>
          </a:prstGeom>
          <a:solidFill>
            <a:srgbClr val="12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4247388"/>
            <a:ext cx="252215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技术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8269" y="4247388"/>
            <a:ext cx="809677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适用与要点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517136"/>
            <a:ext cx="11057839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4558284"/>
            <a:ext cx="252215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强制性运动疗法 CIMT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8269" y="4558284"/>
            <a:ext cx="809677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A 级推荐，适用于腕背伸 ≥20°、指伸展 ≥10° 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791456"/>
            <a:ext cx="11057839" cy="274320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4832604"/>
            <a:ext cx="252215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镜像疗法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18269" y="4832604"/>
            <a:ext cx="809677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适用于重度瘫痪与深感觉障碍，成本极低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5065776"/>
            <a:ext cx="11057839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106924"/>
            <a:ext cx="252215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功能性电刺激 FES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8269" y="5106924"/>
            <a:ext cx="809677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足下垂、肩半脱位、腕背屈训练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5340096"/>
            <a:ext cx="11057839" cy="274320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5381244"/>
            <a:ext cx="252215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康复机器人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18269" y="5381244"/>
            <a:ext cx="809677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提供高重复量与客观数据，适合重度患者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5614416"/>
            <a:ext cx="11057839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" y="5655564"/>
            <a:ext cx="252215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经颅磁刺激 rTMS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18269" y="5655564"/>
            <a:ext cx="809677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调节半球间抑制失衡，需个体化参数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5888736"/>
            <a:ext cx="11057839" cy="274320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5929884"/>
            <a:ext cx="252215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虚拟现实 / 脑机接口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18269" y="5929884"/>
            <a:ext cx="809677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提升训练趣味性与主动参与度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4187952"/>
            <a:ext cx="11057839" cy="1975103"/>
          </a:xfrm>
          <a:prstGeom prst="rect">
            <a:avLst/>
          </a:prstGeom>
          <a:noFill/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638251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  <a:spcAft>
                <a:spcPts val="400"/>
              </a:spcAft>
            </a:pPr>
            <a:r>
              <a:rPr sz="850" b="0" i="1">
                <a:solidFill>
                  <a:srgbClr val="96A4AE"/>
                </a:solidFill>
                <a:latin typeface="微软雅黑"/>
              </a:rPr>
              <a:t>技术是手段，功能目标是终点——切忌为用技术而用技术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0312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600" b="1" i="0">
                <a:solidFill>
                  <a:srgbClr val="4FA8A6"/>
                </a:solidFill>
                <a:latin typeface="微软雅黑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3145536"/>
            <a:ext cx="731520" cy="45720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438144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3100" b="1" i="0">
                <a:solidFill>
                  <a:srgbClr val="FFFFFF"/>
                </a:solidFill>
                <a:latin typeface="微软雅黑"/>
              </a:rPr>
              <a:t>临床实战与
人文关怀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98848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400"/>
              </a:spcAft>
            </a:pPr>
            <a:r>
              <a:rPr sz="1200" b="0" i="0">
                <a:solidFill>
                  <a:srgbClr val="9FB8C4"/>
                </a:solidFill>
                <a:latin typeface="微软雅黑"/>
              </a:rPr>
              <a:t>把评定与技术落到真实的人身上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231136"/>
            <a:ext cx="109728" cy="109728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3969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 i="0">
                <a:solidFill>
                  <a:srgbClr val="D6E4EB"/>
                </a:solidFill>
                <a:latin typeface="微软雅黑"/>
              </a:rPr>
              <a:t>常见并发症的识别与处理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834640"/>
            <a:ext cx="109728" cy="109728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7432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 i="0">
                <a:solidFill>
                  <a:srgbClr val="D6E4EB"/>
                </a:solidFill>
                <a:latin typeface="微软雅黑"/>
              </a:rPr>
              <a:t>疼痛、肩手综合征与深静脉血栓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438144"/>
            <a:ext cx="109728" cy="109728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346704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 i="0">
                <a:solidFill>
                  <a:srgbClr val="D6E4EB"/>
                </a:solidFill>
                <a:latin typeface="微软雅黑"/>
              </a:rPr>
              <a:t>卒中后抑郁与心理支持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4041648"/>
            <a:ext cx="109728" cy="109728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95020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 i="0">
                <a:solidFill>
                  <a:srgbClr val="D6E4EB"/>
                </a:solidFill>
                <a:latin typeface="微软雅黑"/>
              </a:rPr>
              <a:t>家属沟通与照护者培训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4645152"/>
            <a:ext cx="109728" cy="109728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455371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 i="0">
                <a:solidFill>
                  <a:srgbClr val="D6E4EB"/>
                </a:solidFill>
                <a:latin typeface="微软雅黑"/>
              </a:rPr>
              <a:t>健康宣教与社区衔接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E7C7B"/>
                </a:solidFill>
                <a:latin typeface="微软雅黑"/>
              </a:rPr>
              <a:t>COMPLICATIONS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0A1E2E"/>
                </a:solidFill>
                <a:latin typeface="微软雅黑"/>
              </a:rPr>
              <a:t>常见并发症：预防重于处理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457200"/>
            <a:ext cx="128016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15039" y="457200"/>
            <a:ext cx="128016" cy="128016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11057839" cy="402336"/>
          </a:xfrm>
          <a:prstGeom prst="rect">
            <a:avLst/>
          </a:prstGeom>
          <a:solidFill>
            <a:srgbClr val="12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577340"/>
            <a:ext cx="15168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微软雅黑"/>
              </a:rPr>
              <a:t>并发症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3010" y="1577340"/>
            <a:ext cx="23393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微软雅黑"/>
              </a:rPr>
              <a:t>主要成因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71849" y="1577340"/>
            <a:ext cx="65431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微软雅黑"/>
              </a:rPr>
              <a:t>预防与处理要点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83664"/>
            <a:ext cx="11057839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1988820"/>
            <a:ext cx="151689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误吸性肺炎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3010" y="1988820"/>
            <a:ext cx="233938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吞咽障碍 + 意识下降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71849" y="1988820"/>
            <a:ext cx="654318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进食前筛查、坐位 90° 进食、餐后半卧 30 分钟、口腔护理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286000"/>
            <a:ext cx="11057839" cy="402336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391156"/>
            <a:ext cx="151689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深静脉血栓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3010" y="2391156"/>
            <a:ext cx="233938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制动、高凝状态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71849" y="2391156"/>
            <a:ext cx="654318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早期活动、气压治疗、弹力袜；已确诊者抗凝前禁止患肢按摩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688336"/>
            <a:ext cx="11057839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2793492"/>
            <a:ext cx="151689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压疮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3010" y="2793492"/>
            <a:ext cx="233938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感觉障碍 + 长期受压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71849" y="2793492"/>
            <a:ext cx="654318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每 2 小时翻身、减压床垫、骨突处保护、营养支持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090672"/>
            <a:ext cx="11057839" cy="402336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3195828"/>
            <a:ext cx="151689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肩手综合征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3010" y="3195828"/>
            <a:ext cx="233938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腕部长期屈曲受压、牵拉损伤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71849" y="3195828"/>
            <a:ext cx="654318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良肢位、避免患手输液、向心性缠绕加压、主动活动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493008"/>
            <a:ext cx="11057839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3598164"/>
            <a:ext cx="151689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肩关节半脱位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13010" y="3598164"/>
            <a:ext cx="233938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弛缓期肌张力低下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71849" y="3598164"/>
            <a:ext cx="654318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禁牵拉患臂、坐位托起前臂、FES 刺激冈上肌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895344"/>
            <a:ext cx="11057839" cy="402336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4000499"/>
            <a:ext cx="151689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泌尿系感染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13010" y="4000499"/>
            <a:ext cx="233938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留置尿管、排空障碍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71849" y="4000499"/>
            <a:ext cx="654318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尽早拔管、间歇导尿、膀胱功能训练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4297680"/>
            <a:ext cx="11057839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" y="4402836"/>
            <a:ext cx="151689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2C4455"/>
                </a:solidFill>
                <a:latin typeface="微软雅黑"/>
              </a:rPr>
              <a:t>关节挛缩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13010" y="4402836"/>
            <a:ext cx="233938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痉挛 + 缺乏活动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1849" y="4402836"/>
            <a:ext cx="654318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0" i="0">
                <a:solidFill>
                  <a:srgbClr val="5A6B78"/>
                </a:solidFill>
                <a:latin typeface="微软雅黑"/>
              </a:rPr>
              <a:t>每日全关节 ROM、持续牵伸、矫形器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1481328"/>
            <a:ext cx="11057839" cy="3218688"/>
          </a:xfrm>
          <a:prstGeom prst="rect">
            <a:avLst/>
          </a:prstGeom>
          <a:noFill/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66928" y="4791456"/>
            <a:ext cx="11057839" cy="1170432"/>
          </a:xfrm>
          <a:prstGeom prst="roundRect">
            <a:avLst>
              <a:gd name="adj" fmla="val 5500"/>
            </a:avLst>
          </a:prstGeom>
          <a:solidFill>
            <a:srgbClr val="D6ECEB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6928" y="4791456"/>
            <a:ext cx="54864" cy="117043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" y="4910328"/>
            <a:ext cx="106372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9B2C22"/>
                </a:solidFill>
                <a:latin typeface="微软雅黑"/>
              </a:rPr>
              <a:t>肩痛：康复进程最常见的阻断者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" y="5202936"/>
            <a:ext cx="106372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50" b="0" i="0">
                <a:solidFill>
                  <a:srgbClr val="2C4455"/>
                </a:solidFill>
                <a:latin typeface="微软雅黑"/>
              </a:rPr>
              <a:t>偏瘫肩痛发生率达 60%，一旦出现，患者因疼痛拒绝活动 → 活动减少 → 挛缩加重 → 疼痛加剧，形成恶性循环。
核心预防措施只有一句话：任何时候都不要牵拉患侧上肢 —— 包括翻身、转移、穿衣、搀扶行走。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638251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  <a:spcAft>
                <a:spcPts val="400"/>
              </a:spcAft>
            </a:pPr>
            <a:r>
              <a:rPr sz="850" b="0" i="1">
                <a:solidFill>
                  <a:srgbClr val="96A4AE"/>
                </a:solidFill>
                <a:latin typeface="微软雅黑"/>
              </a:rPr>
              <a:t>并发症是延长住院时间与增加费用的首要因素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E7C7B"/>
                </a:solidFill>
                <a:latin typeface="微软雅黑"/>
              </a:rPr>
              <a:t>PSYCHOSOCIAL 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0A1E2E"/>
                </a:solidFill>
                <a:latin typeface="微软雅黑"/>
              </a:rPr>
              <a:t>心理支持与人文关怀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457200"/>
            <a:ext cx="128016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15039" y="457200"/>
            <a:ext cx="128016" cy="128016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95044"/>
            <a:ext cx="118872" cy="11887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444752"/>
            <a:ext cx="5340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患者的心理适应阶段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92224"/>
            <a:ext cx="557784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961388"/>
            <a:ext cx="228600" cy="2286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56816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874520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2C4455"/>
                </a:solidFill>
                <a:latin typeface="微软雅黑"/>
              </a:rPr>
              <a:t>休克与否认期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084832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「我很快就能好」——不宜过早强行纠正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" y="2359152"/>
            <a:ext cx="27432" cy="118872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2478024"/>
            <a:ext cx="557784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647188"/>
            <a:ext cx="228600" cy="2286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642616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560320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2C4455"/>
                </a:solidFill>
                <a:latin typeface="微软雅黑"/>
              </a:rPr>
              <a:t>愤怒与抑郁期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770632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最危险阶段，需筛查自杀风险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" y="3044952"/>
            <a:ext cx="27432" cy="118872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6928" y="3163824"/>
            <a:ext cx="557784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3332988"/>
            <a:ext cx="228600" cy="2286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328416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246120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2C4455"/>
                </a:solidFill>
                <a:latin typeface="微软雅黑"/>
              </a:rPr>
              <a:t>协议与讨价期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456432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开始配合但期望值仍不现实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" y="3730752"/>
            <a:ext cx="27432" cy="118872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6928" y="3849624"/>
            <a:ext cx="557784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" y="4018787"/>
            <a:ext cx="228600" cy="2286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014215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3931920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2C4455"/>
                </a:solidFill>
                <a:latin typeface="微软雅黑"/>
              </a:rPr>
              <a:t>接受与重建期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142232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现实目标设定，主动参与度最高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352544"/>
            <a:ext cx="5577840" cy="1572768"/>
          </a:xfrm>
          <a:prstGeom prst="roundRect">
            <a:avLst>
              <a:gd name="adj" fmla="val 5500"/>
            </a:avLst>
          </a:prstGeom>
          <a:solidFill>
            <a:srgbClr val="D6ECEB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4352544"/>
            <a:ext cx="54864" cy="157276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4471416"/>
            <a:ext cx="51572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9B2C22"/>
                </a:solidFill>
                <a:latin typeface="微软雅黑"/>
              </a:rPr>
              <a:t>卒中后抑郁：被漏诊的常态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" y="4764024"/>
            <a:ext cx="5157216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50" b="0" i="0">
                <a:solidFill>
                  <a:srgbClr val="2C4455"/>
                </a:solidFill>
                <a:latin typeface="微软雅黑"/>
              </a:rPr>
              <a:t>发生率 30—40%，却仅有约三分之一被识别和治疗。
抑郁直接降低训练依从性与功能预后，是独立的不良预后因素。
建议：入院、出院、随访三个节点常规 PHQ-9 筛查。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27648" y="1495044"/>
            <a:ext cx="118872" cy="118872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65392" y="1444752"/>
            <a:ext cx="5056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沟通的实务技巧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1792224"/>
            <a:ext cx="5120640" cy="1466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050" b="1">
                <a:solidFill>
                  <a:srgbClr val="E85A4F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失语患者：</a:t>
            </a:r>
            <a:r>
              <a:rPr sz="1050">
                <a:solidFill>
                  <a:srgbClr val="5A6B78"/>
                </a:solidFill>
                <a:latin typeface="微软雅黑"/>
              </a:rPr>
              <a:t>放慢语速、简短句、配合手势与图片板，给足反应时间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050" b="1">
                <a:solidFill>
                  <a:srgbClr val="E85A4F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忽略患者：</a:t>
            </a:r>
            <a:r>
              <a:rPr sz="1050">
                <a:solidFill>
                  <a:srgbClr val="5A6B78"/>
                </a:solidFill>
                <a:latin typeface="微软雅黑"/>
              </a:rPr>
              <a:t>从患侧接近并交流，环境布置引导注意患侧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050" b="1">
                <a:solidFill>
                  <a:srgbClr val="E85A4F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认知障碍者：</a:t>
            </a:r>
            <a:r>
              <a:rPr sz="1050">
                <a:solidFill>
                  <a:srgbClr val="5A6B78"/>
                </a:solidFill>
                <a:latin typeface="微软雅黑"/>
              </a:rPr>
              <a:t>一次一个指令，固定流程与环境，减少干扰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050" b="1">
                <a:solidFill>
                  <a:srgbClr val="E85A4F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闭锁综合征：</a:t>
            </a:r>
            <a:r>
              <a:rPr sz="1050">
                <a:solidFill>
                  <a:srgbClr val="5A6B78"/>
                </a:solidFill>
                <a:latin typeface="微软雅黑"/>
              </a:rPr>
              <a:t>建立眼动编码，始终以对话姿态交流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050" b="1">
                <a:solidFill>
                  <a:srgbClr val="E85A4F"/>
                </a:solidFill>
                <a:latin typeface="微软雅黑"/>
              </a:rPr>
              <a:t>▪  </a:t>
            </a:r>
            <a:r>
              <a:rPr sz="1050" b="1">
                <a:solidFill>
                  <a:srgbClr val="2C4455"/>
                </a:solidFill>
                <a:latin typeface="微软雅黑"/>
              </a:rPr>
              <a:t>情绪失禁：</a:t>
            </a:r>
            <a:r>
              <a:rPr sz="1050">
                <a:solidFill>
                  <a:srgbClr val="5A6B78"/>
                </a:solidFill>
                <a:latin typeface="微软雅黑"/>
              </a:rPr>
              <a:t>向家属解释这是病理现象，不是「变得脆弱」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27648" y="4352544"/>
            <a:ext cx="5294376" cy="1572768"/>
          </a:xfrm>
          <a:prstGeom prst="roundRect">
            <a:avLst>
              <a:gd name="adj" fmla="val 5500"/>
            </a:avLst>
          </a:prstGeom>
          <a:solidFill>
            <a:srgbClr val="FDE6E3"/>
          </a:solidFill>
          <a:ln w="9525">
            <a:solidFill>
              <a:srgbClr val="E85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27648" y="4352544"/>
            <a:ext cx="54864" cy="1572768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65392" y="4471416"/>
            <a:ext cx="48737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9B2C22"/>
                </a:solidFill>
                <a:latin typeface="微软雅黑"/>
              </a:rPr>
              <a:t>照护者也是患者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65392" y="4764024"/>
            <a:ext cx="487375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50" b="0" i="0">
                <a:solidFill>
                  <a:srgbClr val="2C4455"/>
                </a:solidFill>
                <a:latin typeface="微软雅黑"/>
              </a:rPr>
              <a:t>主要照护者的抑郁发生率与患者相当。照护者崩溃是家庭康复中断的首要原因。
务必安排：照护技能培训、喘息服务信息、同伴支持组织对接。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38251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  <a:spcAft>
                <a:spcPts val="400"/>
              </a:spcAft>
            </a:pPr>
            <a:r>
              <a:rPr sz="850" b="0" i="1">
                <a:solidFill>
                  <a:srgbClr val="96A4AE"/>
                </a:solidFill>
                <a:latin typeface="微软雅黑"/>
              </a:rPr>
              <a:t>康复医学的对象从来不只是肢体，而是一个完整的人与其家庭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0E7C7B"/>
                </a:solidFill>
                <a:latin typeface="微软雅黑"/>
              </a:rPr>
              <a:t>EDUCATION &amp;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0A1E2E"/>
                </a:solidFill>
                <a:latin typeface="微软雅黑"/>
              </a:rPr>
              <a:t>健康宣教与二级预防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457200"/>
            <a:ext cx="128016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15039" y="457200"/>
            <a:ext cx="128016" cy="128016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95044"/>
            <a:ext cx="118872" cy="11887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444752"/>
            <a:ext cx="5431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患者与家属必须掌握的五件事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92224"/>
            <a:ext cx="5669280" cy="5852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1970532"/>
            <a:ext cx="228600" cy="2286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6596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874520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2C4455"/>
                </a:solidFill>
                <a:latin typeface="微软雅黑"/>
              </a:rPr>
              <a:t>识别复发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084832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BE FAST 原则：平衡·眼睛·面部·手臂·言语·时间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" y="2377440"/>
            <a:ext cx="27432" cy="128016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2505456"/>
            <a:ext cx="5669280" cy="5852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2683764"/>
            <a:ext cx="228600" cy="2286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679192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587752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2C4455"/>
                </a:solidFill>
                <a:latin typeface="微软雅黑"/>
              </a:rPr>
              <a:t>规范服药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798064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抗血小板/抗凝、他汀不可自行停药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" y="3090672"/>
            <a:ext cx="27432" cy="128016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6928" y="3218688"/>
            <a:ext cx="5669280" cy="5852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3396996"/>
            <a:ext cx="228600" cy="2286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392424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300984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2C4455"/>
                </a:solidFill>
                <a:latin typeface="微软雅黑"/>
              </a:rPr>
              <a:t>危险因素管理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511296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血压、血糖、血脂达标，戒烟限酒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" y="3803904"/>
            <a:ext cx="27432" cy="128016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6928" y="3931920"/>
            <a:ext cx="5669280" cy="5852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" y="4110228"/>
            <a:ext cx="228600" cy="2286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105656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014215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2C4455"/>
                </a:solidFill>
                <a:latin typeface="微软雅黑"/>
              </a:rPr>
              <a:t>家庭训练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224528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每日训练计划与安全防护要点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0100" y="4517136"/>
            <a:ext cx="27432" cy="128016"/>
          </a:xfrm>
          <a:prstGeom prst="rect">
            <a:avLst/>
          </a:prstGeom>
          <a:solidFill>
            <a:srgbClr val="4FA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66928" y="4645152"/>
            <a:ext cx="5669280" cy="5852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85800" y="4823460"/>
            <a:ext cx="228600" cy="22860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818888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727448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2C4455"/>
                </a:solidFill>
                <a:latin typeface="微软雅黑"/>
              </a:rPr>
              <a:t>定期随访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4937760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出院后 1、3、6 个月复诊节点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193792"/>
            <a:ext cx="5669280" cy="768096"/>
          </a:xfrm>
          <a:prstGeom prst="roundRect">
            <a:avLst>
              <a:gd name="adj" fmla="val 5500"/>
            </a:avLst>
          </a:prstGeom>
          <a:solidFill>
            <a:srgbClr val="FDE6E3"/>
          </a:solidFill>
          <a:ln w="9525">
            <a:solidFill>
              <a:srgbClr val="E85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5193792"/>
            <a:ext cx="54864" cy="768096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" y="5312664"/>
            <a:ext cx="52486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9B2C22"/>
                </a:solidFill>
                <a:latin typeface="微软雅黑"/>
              </a:rPr>
              <a:t>BE FAST 中文速记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" y="5605272"/>
            <a:ext cx="5248656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100" b="0" i="0">
                <a:solidFill>
                  <a:srgbClr val="2C4455"/>
                </a:solidFill>
                <a:latin typeface="微软雅黑"/>
              </a:rPr>
              <a:t>突然的：走不稳 · 看不清 · 脸歪斜 · 手无力 · 说不清 → 立刻拨打 120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27648" y="1495044"/>
            <a:ext cx="118872" cy="118872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65392" y="1444752"/>
            <a:ext cx="5056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400" b="1" i="0">
                <a:solidFill>
                  <a:srgbClr val="0A1E2E"/>
                </a:solidFill>
                <a:latin typeface="微软雅黑"/>
              </a:rPr>
              <a:t>出院准备清单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27648" y="1792224"/>
            <a:ext cx="5294376" cy="365760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37376" y="1869948"/>
            <a:ext cx="11497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项目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06611" y="1869948"/>
            <a:ext cx="37056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</a:rPr>
              <a:t>要点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27648" y="2157984"/>
            <a:ext cx="5294376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37376" y="2235708"/>
            <a:ext cx="11497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功能评估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06611" y="2235708"/>
            <a:ext cx="37056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确认 ADL 水平与所需照护强度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27648" y="2505456"/>
            <a:ext cx="5294376" cy="347472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37376" y="2583180"/>
            <a:ext cx="11497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居家环境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06611" y="2583180"/>
            <a:ext cx="37056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扶手、防滑、照明、通道宽度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27648" y="2852928"/>
            <a:ext cx="5294376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37376" y="2930652"/>
            <a:ext cx="11497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辅具配置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06611" y="2930652"/>
            <a:ext cx="37056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轮椅、助行器、矫形器适配与培训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27648" y="3200400"/>
            <a:ext cx="5294376" cy="347472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37376" y="3278124"/>
            <a:ext cx="11497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用药清单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06611" y="3278124"/>
            <a:ext cx="37056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书面化，标注剂量与注意事项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27648" y="3547872"/>
            <a:ext cx="5294376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37376" y="3625596"/>
            <a:ext cx="11497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训练方案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06611" y="3625596"/>
            <a:ext cx="37056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图文版家庭训练手册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27648" y="3895344"/>
            <a:ext cx="5294376" cy="347472"/>
          </a:xfrm>
          <a:prstGeom prst="rect">
            <a:avLst/>
          </a:prstGeom>
          <a:solidFill>
            <a:srgbClr val="EE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37376" y="3973068"/>
            <a:ext cx="11497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随访安排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06611" y="3973068"/>
            <a:ext cx="37056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明确时间、科室与联系方式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27648" y="4242816"/>
            <a:ext cx="5294376" cy="347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37376" y="4320540"/>
            <a:ext cx="11497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1" i="0">
                <a:solidFill>
                  <a:srgbClr val="2C4455"/>
                </a:solidFill>
                <a:latin typeface="微软雅黑"/>
              </a:rPr>
              <a:t>急救预案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06611" y="4320540"/>
            <a:ext cx="37056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50" b="0" i="0">
                <a:solidFill>
                  <a:srgbClr val="5A6B78"/>
                </a:solidFill>
                <a:latin typeface="微软雅黑"/>
              </a:rPr>
              <a:t>复发识别与就近卒中中心信息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27648" y="1792224"/>
            <a:ext cx="5294376" cy="2798064"/>
          </a:xfrm>
          <a:prstGeom prst="rect">
            <a:avLst/>
          </a:prstGeom>
          <a:noFill/>
          <a:ln w="9525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327648" y="4608576"/>
            <a:ext cx="5294376" cy="1353312"/>
          </a:xfrm>
          <a:prstGeom prst="roundRect">
            <a:avLst>
              <a:gd name="adj" fmla="val 5500"/>
            </a:avLst>
          </a:prstGeom>
          <a:solidFill>
            <a:srgbClr val="D6ECEB"/>
          </a:solidFill>
          <a:ln w="95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327648" y="4608576"/>
            <a:ext cx="54864" cy="135331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65392" y="4727448"/>
            <a:ext cx="48737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9B2C22"/>
                </a:solidFill>
                <a:latin typeface="微软雅黑"/>
              </a:rPr>
              <a:t>复发预防的现实意义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65392" y="5020056"/>
            <a:ext cx="4873752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050" b="0" i="0">
                <a:solidFill>
                  <a:srgbClr val="2C4455"/>
                </a:solidFill>
                <a:latin typeface="微软雅黑"/>
              </a:rPr>
              <a:t>卒中后 5 年累积复发率高达 30% 左右，且复发者残疾程度显著加重。
每一次成功的二级预防，价值不亚于一个疗程的功能训练。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6928" y="638251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4000"/>
              </a:lnSpc>
              <a:spcAft>
                <a:spcPts val="400"/>
              </a:spcAft>
            </a:pPr>
            <a:r>
              <a:rPr sz="850" b="0" i="1">
                <a:solidFill>
                  <a:srgbClr val="96A4AE"/>
                </a:solidFill>
                <a:latin typeface="微软雅黑"/>
              </a:rPr>
              <a:t>宣教效果取决于可执行性——给清单，而不是给概念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 i="0">
                <a:solidFill>
                  <a:srgbClr val="4FA8A6"/>
                </a:solidFill>
                <a:latin typeface="微软雅黑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微软雅黑"/>
              </a:rPr>
              <a:t>核心要点回顾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50447" y="457200"/>
            <a:ext cx="128016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15039" y="457200"/>
            <a:ext cx="128016" cy="128016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8" y="1627632"/>
            <a:ext cx="365760" cy="36576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916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1572768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</a:rPr>
              <a:t>解剖决定表现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920240"/>
            <a:ext cx="10424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 i="0">
                <a:solidFill>
                  <a:srgbClr val="A9C2CE"/>
                </a:solidFill>
                <a:latin typeface="微软雅黑"/>
              </a:rPr>
              <a:t>责任血管与病灶定位是理解功能缺损谱系的钥匙，也是预判恢复潜力的起点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2487168"/>
            <a:ext cx="365760" cy="365760"/>
          </a:xfrm>
          <a:prstGeom prst="ellipse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55117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2432304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</a:rPr>
              <a:t>评定驱动决策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2779776"/>
            <a:ext cx="10424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 i="0">
                <a:solidFill>
                  <a:srgbClr val="A9C2CE"/>
                </a:solidFill>
                <a:latin typeface="微软雅黑"/>
              </a:rPr>
              <a:t>评定不是填表任务，每一项分数都应能翻译成具体可执行的训练处方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3346704"/>
            <a:ext cx="365760" cy="36576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4107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" y="3291840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</a:rPr>
              <a:t>强度重于流派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" y="3639312"/>
            <a:ext cx="10424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 i="0">
                <a:solidFill>
                  <a:srgbClr val="A9C2CE"/>
                </a:solidFill>
                <a:latin typeface="微软雅黑"/>
              </a:rPr>
              <a:t>训练剂量、任务特异性与主动参与度的影响，远超技术流派之间的差异</a:t>
            </a:r>
          </a:p>
        </p:txBody>
      </p:sp>
      <p:sp>
        <p:nvSpPr>
          <p:cNvPr id="19" name="Oval 18"/>
          <p:cNvSpPr/>
          <p:nvPr/>
        </p:nvSpPr>
        <p:spPr>
          <a:xfrm>
            <a:off x="566928" y="4206240"/>
            <a:ext cx="365760" cy="365760"/>
          </a:xfrm>
          <a:prstGeom prst="ellipse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2702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4151376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</a:rPr>
              <a:t>并发症即效率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" y="4498848"/>
            <a:ext cx="10424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 i="0">
                <a:solidFill>
                  <a:srgbClr val="A9C2CE"/>
                </a:solidFill>
                <a:latin typeface="微软雅黑"/>
              </a:rPr>
              <a:t>肩痛、误吸、压疮、抑郁，每一项都会直接中断康复进程，预防就是最好的治疗</a:t>
            </a:r>
          </a:p>
        </p:txBody>
      </p:sp>
      <p:sp>
        <p:nvSpPr>
          <p:cNvPr id="23" name="Oval 22"/>
          <p:cNvSpPr/>
          <p:nvPr/>
        </p:nvSpPr>
        <p:spPr>
          <a:xfrm>
            <a:off x="566928" y="5065776"/>
            <a:ext cx="365760" cy="365760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129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" y="5010912"/>
            <a:ext cx="3657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</a:rPr>
              <a:t>以人为终点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5358384"/>
            <a:ext cx="10424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 i="0">
                <a:solidFill>
                  <a:srgbClr val="A9C2CE"/>
                </a:solidFill>
                <a:latin typeface="微软雅黑"/>
              </a:rPr>
              <a:t>功能指标的改善只有转化为回家、回归角色、重建尊严，才真正完成闭环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38251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900" b="0" i="0">
                <a:solidFill>
                  <a:srgbClr val="5A7A8C"/>
                </a:solidFill>
                <a:latin typeface="微软雅黑"/>
              </a:rPr>
              <a:t>脑卒中的康复 · 核心要点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992727" y="960120"/>
            <a:ext cx="4206240" cy="4206240"/>
          </a:xfrm>
          <a:prstGeom prst="ellipse">
            <a:avLst/>
          </a:prstGeom>
          <a:noFill/>
          <a:ln w="13970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41367" y="1508760"/>
            <a:ext cx="3108960" cy="3108960"/>
          </a:xfrm>
          <a:prstGeom prst="ellipse">
            <a:avLst/>
          </a:prstGeom>
          <a:noFill/>
          <a:ln w="13970">
            <a:solidFill>
              <a:srgbClr val="4FA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90007" y="2057400"/>
            <a:ext cx="2011680" cy="2011680"/>
          </a:xfrm>
          <a:prstGeom prst="ellipse">
            <a:avLst/>
          </a:prstGeom>
          <a:noFill/>
          <a:ln w="13970">
            <a:solidFill>
              <a:srgbClr val="E85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78892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微软雅黑"/>
              </a:rPr>
              <a:t>谢 谢 聆 听</a:t>
            </a:r>
          </a:p>
        </p:txBody>
      </p:sp>
      <p:sp>
        <p:nvSpPr>
          <p:cNvPr id="8" name="Rectangle 7"/>
          <p:cNvSpPr/>
          <p:nvPr/>
        </p:nvSpPr>
        <p:spPr>
          <a:xfrm>
            <a:off x="5684367" y="3621024"/>
            <a:ext cx="822960" cy="45720"/>
          </a:xfrm>
          <a:prstGeom prst="rect">
            <a:avLst/>
          </a:prstGeom>
          <a:solidFill>
            <a:srgbClr val="E85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3895344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400" b="0" i="0">
                <a:solidFill>
                  <a:srgbClr val="9FB8C4"/>
                </a:solidFill>
                <a:latin typeface="微软雅黑"/>
              </a:rPr>
              <a:t>敬请批评指正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76072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400"/>
              </a:spcAft>
            </a:pPr>
            <a:r>
              <a:rPr sz="1150" b="0" i="1">
                <a:solidFill>
                  <a:srgbClr val="4FA8A6"/>
                </a:solidFill>
                <a:latin typeface="微软雅黑"/>
              </a:rPr>
              <a:t>康复的终点不是肌力几级，而是一个人重新拥有自己的生活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